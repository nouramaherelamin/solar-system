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Akzidenz-Grotesk Bold" panose="020B0604020202020204" charset="0"/>
      <p:regular r:id="rId14"/>
    </p:embeddedFont>
    <p:embeddedFont>
      <p:font typeface="DM Sans" pitchFamily="2" charset="0"/>
      <p:regular r:id="rId15"/>
    </p:embeddedFont>
    <p:embeddedFont>
      <p:font typeface="DM Sans Bold Italics" panose="020B0604020202020204" charset="0"/>
      <p:regular r:id="rId16"/>
    </p:embeddedFont>
    <p:embeddedFont>
      <p:font typeface="Garet" panose="020B0604020202020204" charset="0"/>
      <p:regular r:id="rId17"/>
    </p:embeddedFont>
    <p:embeddedFont>
      <p:font typeface="Garet Bold" panose="020B0604020202020204" charset="0"/>
      <p:regular r:id="rId18"/>
    </p:embeddedFont>
    <p:embeddedFont>
      <p:font typeface="Garet Italics" panose="020B0604020202020204" charset="0"/>
      <p:regular r:id="rId19"/>
    </p:embeddedFont>
    <p:embeddedFont>
      <p:font typeface="Heading Now 31-38 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5" d="100"/>
          <a:sy n="55" d="100"/>
        </p:scale>
        <p:origin x="658"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ura maher" userId="041b074e2a940bc5" providerId="LiveId" clId="{BA8BE6EB-4ED5-4DC3-9445-2C8D572F456D}"/>
    <pc:docChg chg="addSld delSld modSld">
      <pc:chgData name="noura maher" userId="041b074e2a940bc5" providerId="LiveId" clId="{BA8BE6EB-4ED5-4DC3-9445-2C8D572F456D}" dt="2026-05-05T23:40:40.321" v="9" actId="47"/>
      <pc:docMkLst>
        <pc:docMk/>
      </pc:docMkLst>
      <pc:sldChg chg="modSp mod">
        <pc:chgData name="noura maher" userId="041b074e2a940bc5" providerId="LiveId" clId="{BA8BE6EB-4ED5-4DC3-9445-2C8D572F456D}" dt="2026-05-05T21:14:13.627" v="6" actId="20577"/>
        <pc:sldMkLst>
          <pc:docMk/>
          <pc:sldMk cId="0" sldId="266"/>
        </pc:sldMkLst>
        <pc:spChg chg="mod">
          <ac:chgData name="noura maher" userId="041b074e2a940bc5" providerId="LiveId" clId="{BA8BE6EB-4ED5-4DC3-9445-2C8D572F456D}" dt="2026-05-05T21:14:09.819" v="4" actId="20577"/>
          <ac:spMkLst>
            <pc:docMk/>
            <pc:sldMk cId="0" sldId="266"/>
            <ac:spMk id="9" creationId="{00000000-0000-0000-0000-000000000000}"/>
          </ac:spMkLst>
        </pc:spChg>
        <pc:spChg chg="mod">
          <ac:chgData name="noura maher" userId="041b074e2a940bc5" providerId="LiveId" clId="{BA8BE6EB-4ED5-4DC3-9445-2C8D572F456D}" dt="2026-05-05T21:14:13.627" v="6" actId="20577"/>
          <ac:spMkLst>
            <pc:docMk/>
            <pc:sldMk cId="0" sldId="266"/>
            <ac:spMk id="13" creationId="{00000000-0000-0000-0000-000000000000}"/>
          </ac:spMkLst>
        </pc:spChg>
      </pc:sldChg>
      <pc:sldChg chg="new del">
        <pc:chgData name="noura maher" userId="041b074e2a940bc5" providerId="LiveId" clId="{BA8BE6EB-4ED5-4DC3-9445-2C8D572F456D}" dt="2026-05-05T23:40:39.031" v="7" actId="47"/>
        <pc:sldMkLst>
          <pc:docMk/>
          <pc:sldMk cId="1934338797" sldId="268"/>
        </pc:sldMkLst>
      </pc:sldChg>
      <pc:sldChg chg="new del">
        <pc:chgData name="noura maher" userId="041b074e2a940bc5" providerId="LiveId" clId="{BA8BE6EB-4ED5-4DC3-9445-2C8D572F456D}" dt="2026-05-05T23:40:39.631" v="8" actId="47"/>
        <pc:sldMkLst>
          <pc:docMk/>
          <pc:sldMk cId="887451065" sldId="269"/>
        </pc:sldMkLst>
      </pc:sldChg>
      <pc:sldChg chg="new del">
        <pc:chgData name="noura maher" userId="041b074e2a940bc5" providerId="LiveId" clId="{BA8BE6EB-4ED5-4DC3-9445-2C8D572F456D}" dt="2026-05-05T23:40:40.321" v="9" actId="47"/>
        <pc:sldMkLst>
          <pc:docMk/>
          <pc:sldMk cId="755349342" sldId="27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6.svg"/></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jpe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6.svg"/></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hyperlink" Target="https://scholar.google.com.eg/citations?user=-TDV2bYAAAAJ&amp;hl=en&amp;oi=ao" TargetMode="External"/><Relationship Id="rId3" Type="http://schemas.openxmlformats.org/officeDocument/2006/relationships/image" Target="../media/image17.png"/><Relationship Id="rId7" Type="http://schemas.openxmlformats.org/officeDocument/2006/relationships/image" Target="../media/image20.png"/><Relationship Id="rId12" Type="http://schemas.openxmlformats.org/officeDocument/2006/relationships/image" Target="../media/image10.pn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9.png"/><Relationship Id="rId5" Type="http://schemas.openxmlformats.org/officeDocument/2006/relationships/image" Target="../media/image18.png"/><Relationship Id="rId15" Type="http://schemas.openxmlformats.org/officeDocument/2006/relationships/image" Target="../media/image25.png"/><Relationship Id="rId10" Type="http://schemas.openxmlformats.org/officeDocument/2006/relationships/image" Target="../media/image23.png"/><Relationship Id="rId4" Type="http://schemas.openxmlformats.org/officeDocument/2006/relationships/image" Target="../media/image13.png"/><Relationship Id="rId9" Type="http://schemas.openxmlformats.org/officeDocument/2006/relationships/image" Target="../media/image22.png"/><Relationship Id="rId1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0555" b="-10555"/>
            </a:stretch>
          </a:blipFill>
        </p:spPr>
        <p:txBody>
          <a:bodyPr/>
          <a:lstStyle/>
          <a:p>
            <a:endParaRPr lang="ar-EG"/>
          </a:p>
        </p:txBody>
      </p:sp>
      <p:sp>
        <p:nvSpPr>
          <p:cNvPr id="3" name="Freeform 3"/>
          <p:cNvSpPr/>
          <p:nvPr/>
        </p:nvSpPr>
        <p:spPr>
          <a:xfrm>
            <a:off x="-2508512" y="2751132"/>
            <a:ext cx="6161913" cy="8229600"/>
          </a:xfrm>
          <a:custGeom>
            <a:avLst/>
            <a:gdLst/>
            <a:ahLst/>
            <a:cxnLst/>
            <a:rect l="l" t="t" r="r" b="b"/>
            <a:pathLst>
              <a:path w="6161913" h="8229600">
                <a:moveTo>
                  <a:pt x="0" y="0"/>
                </a:moveTo>
                <a:lnTo>
                  <a:pt x="6161913" y="0"/>
                </a:lnTo>
                <a:lnTo>
                  <a:pt x="6161913" y="8229600"/>
                </a:lnTo>
                <a:lnTo>
                  <a:pt x="0" y="8229600"/>
                </a:lnTo>
                <a:lnTo>
                  <a:pt x="0" y="0"/>
                </a:lnTo>
                <a:close/>
              </a:path>
            </a:pathLst>
          </a:custGeom>
          <a:blipFill>
            <a:blip r:embed="rId3">
              <a:alphaModFix amt="25000"/>
            </a:blip>
            <a:stretch>
              <a:fillRect/>
            </a:stretch>
          </a:blipFill>
        </p:spPr>
        <p:txBody>
          <a:bodyPr/>
          <a:lstStyle/>
          <a:p>
            <a:endParaRPr lang="ar-EG"/>
          </a:p>
        </p:txBody>
      </p:sp>
      <p:sp>
        <p:nvSpPr>
          <p:cNvPr id="4" name="Freeform 4"/>
          <p:cNvSpPr/>
          <p:nvPr/>
        </p:nvSpPr>
        <p:spPr>
          <a:xfrm>
            <a:off x="-151351" y="2386448"/>
            <a:ext cx="3085928" cy="3124991"/>
          </a:xfrm>
          <a:custGeom>
            <a:avLst/>
            <a:gdLst/>
            <a:ahLst/>
            <a:cxnLst/>
            <a:rect l="l" t="t" r="r" b="b"/>
            <a:pathLst>
              <a:path w="3085928" h="3124991">
                <a:moveTo>
                  <a:pt x="0" y="0"/>
                </a:moveTo>
                <a:lnTo>
                  <a:pt x="3085928" y="0"/>
                </a:lnTo>
                <a:lnTo>
                  <a:pt x="3085928" y="3124990"/>
                </a:lnTo>
                <a:lnTo>
                  <a:pt x="0" y="3124990"/>
                </a:lnTo>
                <a:lnTo>
                  <a:pt x="0" y="0"/>
                </a:lnTo>
                <a:close/>
              </a:path>
            </a:pathLst>
          </a:custGeom>
          <a:blipFill>
            <a:blip r:embed="rId4">
              <a:alphaModFix amt="88000"/>
            </a:blip>
            <a:stretch>
              <a:fillRect/>
            </a:stretch>
          </a:blipFill>
        </p:spPr>
        <p:txBody>
          <a:bodyPr/>
          <a:lstStyle/>
          <a:p>
            <a:endParaRPr lang="ar-EG"/>
          </a:p>
        </p:txBody>
      </p:sp>
      <p:sp>
        <p:nvSpPr>
          <p:cNvPr id="5" name="Freeform 5"/>
          <p:cNvSpPr/>
          <p:nvPr/>
        </p:nvSpPr>
        <p:spPr>
          <a:xfrm>
            <a:off x="14039993" y="7605775"/>
            <a:ext cx="3366520" cy="3374957"/>
          </a:xfrm>
          <a:custGeom>
            <a:avLst/>
            <a:gdLst/>
            <a:ahLst/>
            <a:cxnLst/>
            <a:rect l="l" t="t" r="r" b="b"/>
            <a:pathLst>
              <a:path w="3366520" h="3374957">
                <a:moveTo>
                  <a:pt x="0" y="0"/>
                </a:moveTo>
                <a:lnTo>
                  <a:pt x="3366520" y="0"/>
                </a:lnTo>
                <a:lnTo>
                  <a:pt x="3366520" y="3374957"/>
                </a:lnTo>
                <a:lnTo>
                  <a:pt x="0" y="3374957"/>
                </a:lnTo>
                <a:lnTo>
                  <a:pt x="0" y="0"/>
                </a:lnTo>
                <a:close/>
              </a:path>
            </a:pathLst>
          </a:custGeom>
          <a:blipFill>
            <a:blip r:embed="rId5"/>
            <a:stretch>
              <a:fillRect/>
            </a:stretch>
          </a:blipFill>
        </p:spPr>
        <p:txBody>
          <a:bodyPr/>
          <a:lstStyle/>
          <a:p>
            <a:endParaRPr lang="ar-EG"/>
          </a:p>
        </p:txBody>
      </p:sp>
      <p:sp>
        <p:nvSpPr>
          <p:cNvPr id="6" name="TextBox 6"/>
          <p:cNvSpPr txBox="1"/>
          <p:nvPr/>
        </p:nvSpPr>
        <p:spPr>
          <a:xfrm>
            <a:off x="3218434" y="2576948"/>
            <a:ext cx="11851132" cy="4047639"/>
          </a:xfrm>
          <a:prstGeom prst="rect">
            <a:avLst/>
          </a:prstGeom>
        </p:spPr>
        <p:txBody>
          <a:bodyPr lIns="0" tIns="0" rIns="0" bIns="0" rtlCol="0" anchor="t">
            <a:spAutoFit/>
          </a:bodyPr>
          <a:lstStyle/>
          <a:p>
            <a:pPr algn="ctr">
              <a:lnSpc>
                <a:spcPts val="14007"/>
              </a:lnSpc>
            </a:pPr>
            <a:r>
              <a:rPr lang="en-US" sz="16100" b="1">
                <a:solidFill>
                  <a:srgbClr val="FFFFFF"/>
                </a:solidFill>
                <a:latin typeface="Akzidenz-Grotesk Bold"/>
                <a:ea typeface="Akzidenz-Grotesk Bold"/>
                <a:cs typeface="Akzidenz-Grotesk Bold"/>
                <a:sym typeface="Akzidenz-Grotesk Bold"/>
              </a:rPr>
              <a:t>SOLAR SYSTEM</a:t>
            </a:r>
          </a:p>
        </p:txBody>
      </p:sp>
      <p:sp>
        <p:nvSpPr>
          <p:cNvPr id="7" name="Freeform 7"/>
          <p:cNvSpPr/>
          <p:nvPr/>
        </p:nvSpPr>
        <p:spPr>
          <a:xfrm>
            <a:off x="14325557" y="0"/>
            <a:ext cx="6161913" cy="8229600"/>
          </a:xfrm>
          <a:custGeom>
            <a:avLst/>
            <a:gdLst/>
            <a:ahLst/>
            <a:cxnLst/>
            <a:rect l="l" t="t" r="r" b="b"/>
            <a:pathLst>
              <a:path w="6161913" h="8229600">
                <a:moveTo>
                  <a:pt x="0" y="0"/>
                </a:moveTo>
                <a:lnTo>
                  <a:pt x="6161913" y="0"/>
                </a:lnTo>
                <a:lnTo>
                  <a:pt x="6161913" y="8229600"/>
                </a:lnTo>
                <a:lnTo>
                  <a:pt x="0" y="8229600"/>
                </a:lnTo>
                <a:lnTo>
                  <a:pt x="0" y="0"/>
                </a:lnTo>
                <a:close/>
              </a:path>
            </a:pathLst>
          </a:custGeom>
          <a:blipFill>
            <a:blip r:embed="rId3">
              <a:alphaModFix amt="25000"/>
            </a:blip>
            <a:stretch>
              <a:fillRect/>
            </a:stretch>
          </a:blipFill>
        </p:spPr>
        <p:txBody>
          <a:bodyPr/>
          <a:lstStyle/>
          <a:p>
            <a:endParaRPr lang="ar-EG"/>
          </a:p>
        </p:txBody>
      </p:sp>
      <p:sp>
        <p:nvSpPr>
          <p:cNvPr id="8" name="TextBox 8"/>
          <p:cNvSpPr txBox="1"/>
          <p:nvPr/>
        </p:nvSpPr>
        <p:spPr>
          <a:xfrm>
            <a:off x="4026653" y="6485101"/>
            <a:ext cx="10619548" cy="380831"/>
          </a:xfrm>
          <a:prstGeom prst="rect">
            <a:avLst/>
          </a:prstGeom>
        </p:spPr>
        <p:txBody>
          <a:bodyPr lIns="0" tIns="0" rIns="0" bIns="0" rtlCol="0" anchor="t">
            <a:spAutoFit/>
          </a:bodyPr>
          <a:lstStyle/>
          <a:p>
            <a:pPr algn="ctr">
              <a:lnSpc>
                <a:spcPts val="3160"/>
              </a:lnSpc>
              <a:spcBef>
                <a:spcPct val="0"/>
              </a:spcBef>
            </a:pPr>
            <a:r>
              <a:rPr lang="en-US" sz="2257" i="1">
                <a:solidFill>
                  <a:srgbClr val="FFFFFF"/>
                </a:solidFill>
                <a:latin typeface="Garet Italics"/>
                <a:ea typeface="Garet Italics"/>
                <a:cs typeface="Garet Italics"/>
                <a:sym typeface="Garet Italics"/>
              </a:rPr>
              <a:t>Exploring the wonders of our Solar System and its celestial bodies</a:t>
            </a:r>
          </a:p>
        </p:txBody>
      </p:sp>
      <p:sp>
        <p:nvSpPr>
          <p:cNvPr id="9" name="TextBox 9"/>
          <p:cNvSpPr txBox="1"/>
          <p:nvPr/>
        </p:nvSpPr>
        <p:spPr>
          <a:xfrm>
            <a:off x="790001" y="9083964"/>
            <a:ext cx="1303798" cy="298281"/>
          </a:xfrm>
          <a:prstGeom prst="rect">
            <a:avLst/>
          </a:prstGeom>
        </p:spPr>
        <p:txBody>
          <a:bodyPr lIns="0" tIns="0" rIns="0" bIns="0" rtlCol="0" anchor="t">
            <a:spAutoFit/>
          </a:bodyPr>
          <a:lstStyle/>
          <a:p>
            <a:pPr algn="l">
              <a:lnSpc>
                <a:spcPts val="2460"/>
              </a:lnSpc>
              <a:spcBef>
                <a:spcPct val="0"/>
              </a:spcBef>
            </a:pPr>
            <a:r>
              <a:rPr lang="en-US" sz="1757">
                <a:solidFill>
                  <a:srgbClr val="FFFFFF"/>
                </a:solidFill>
                <a:latin typeface="Garet"/>
                <a:ea typeface="Garet"/>
                <a:cs typeface="Garet"/>
                <a:sym typeface="Garet"/>
              </a:rPr>
              <a:t>PAGE 01</a:t>
            </a:r>
          </a:p>
        </p:txBody>
      </p:sp>
      <p:sp>
        <p:nvSpPr>
          <p:cNvPr id="10" name="TextBox 10"/>
          <p:cNvSpPr txBox="1"/>
          <p:nvPr/>
        </p:nvSpPr>
        <p:spPr>
          <a:xfrm>
            <a:off x="7359488" y="9344145"/>
            <a:ext cx="3232312" cy="308098"/>
          </a:xfrm>
          <a:prstGeom prst="rect">
            <a:avLst/>
          </a:prstGeom>
        </p:spPr>
        <p:txBody>
          <a:bodyPr wrap="square" lIns="0" tIns="0" rIns="0" bIns="0" rtlCol="0" anchor="t">
            <a:spAutoFit/>
          </a:bodyPr>
          <a:lstStyle/>
          <a:p>
            <a:pPr algn="ctr">
              <a:lnSpc>
                <a:spcPts val="2460"/>
              </a:lnSpc>
              <a:spcBef>
                <a:spcPct val="0"/>
              </a:spcBef>
            </a:pPr>
            <a:r>
              <a:rPr lang="en-US" sz="1757" dirty="0">
                <a:solidFill>
                  <a:srgbClr val="FFFFFF"/>
                </a:solidFill>
                <a:latin typeface="Garet"/>
                <a:ea typeface="Garet"/>
                <a:cs typeface="Garet"/>
                <a:sym typeface="Garet"/>
              </a:rPr>
              <a:t>COURSE CODE: CSC-2203</a:t>
            </a:r>
          </a:p>
        </p:txBody>
      </p:sp>
      <p:sp>
        <p:nvSpPr>
          <p:cNvPr id="11" name="TextBox 11"/>
          <p:cNvSpPr txBox="1"/>
          <p:nvPr/>
        </p:nvSpPr>
        <p:spPr>
          <a:xfrm>
            <a:off x="4928827" y="8451662"/>
            <a:ext cx="2614973" cy="308098"/>
          </a:xfrm>
          <a:prstGeom prst="rect">
            <a:avLst/>
          </a:prstGeom>
        </p:spPr>
        <p:txBody>
          <a:bodyPr wrap="square" lIns="0" tIns="0" rIns="0" bIns="0" rtlCol="0" anchor="t">
            <a:spAutoFit/>
          </a:bodyPr>
          <a:lstStyle/>
          <a:p>
            <a:pPr algn="ctr">
              <a:lnSpc>
                <a:spcPts val="2460"/>
              </a:lnSpc>
              <a:spcBef>
                <a:spcPct val="0"/>
              </a:spcBef>
            </a:pPr>
            <a:r>
              <a:rPr lang="en-US" sz="1757" dirty="0">
                <a:solidFill>
                  <a:srgbClr val="FFFFFF"/>
                </a:solidFill>
                <a:latin typeface="Garet"/>
                <a:ea typeface="Garet"/>
                <a:cs typeface="Garet"/>
                <a:sym typeface="Garet"/>
              </a:rPr>
              <a:t>DR. MAHMOUD EMAM</a:t>
            </a:r>
          </a:p>
        </p:txBody>
      </p:sp>
      <p:sp>
        <p:nvSpPr>
          <p:cNvPr id="12" name="TextBox 12"/>
          <p:cNvSpPr txBox="1"/>
          <p:nvPr/>
        </p:nvSpPr>
        <p:spPr>
          <a:xfrm>
            <a:off x="10333906" y="8451662"/>
            <a:ext cx="2614973" cy="308098"/>
          </a:xfrm>
          <a:prstGeom prst="rect">
            <a:avLst/>
          </a:prstGeom>
        </p:spPr>
        <p:txBody>
          <a:bodyPr wrap="square" lIns="0" tIns="0" rIns="0" bIns="0" rtlCol="0" anchor="t">
            <a:spAutoFit/>
          </a:bodyPr>
          <a:lstStyle/>
          <a:p>
            <a:pPr algn="ctr">
              <a:lnSpc>
                <a:spcPts val="2460"/>
              </a:lnSpc>
              <a:spcBef>
                <a:spcPct val="0"/>
              </a:spcBef>
            </a:pPr>
            <a:r>
              <a:rPr lang="en-US" sz="1757" dirty="0">
                <a:solidFill>
                  <a:srgbClr val="FFFFFF"/>
                </a:solidFill>
                <a:latin typeface="Garet"/>
                <a:ea typeface="Garet"/>
                <a:cs typeface="Garet"/>
                <a:sym typeface="Garet"/>
              </a:rPr>
              <a:t>DR. MAHMOUD ESSA</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444" b="-6444"/>
            </a:stretch>
          </a:blipFill>
        </p:spPr>
        <p:txBody>
          <a:bodyPr/>
          <a:lstStyle/>
          <a:p>
            <a:endParaRPr lang="ar-EG"/>
          </a:p>
        </p:txBody>
      </p:sp>
      <p:sp>
        <p:nvSpPr>
          <p:cNvPr id="3" name="Freeform 3"/>
          <p:cNvSpPr/>
          <p:nvPr/>
        </p:nvSpPr>
        <p:spPr>
          <a:xfrm>
            <a:off x="-2508512" y="2751132"/>
            <a:ext cx="6161913" cy="8229600"/>
          </a:xfrm>
          <a:custGeom>
            <a:avLst/>
            <a:gdLst/>
            <a:ahLst/>
            <a:cxnLst/>
            <a:rect l="l" t="t" r="r" b="b"/>
            <a:pathLst>
              <a:path w="6161913" h="8229600">
                <a:moveTo>
                  <a:pt x="0" y="0"/>
                </a:moveTo>
                <a:lnTo>
                  <a:pt x="6161913" y="0"/>
                </a:lnTo>
                <a:lnTo>
                  <a:pt x="6161913" y="8229600"/>
                </a:lnTo>
                <a:lnTo>
                  <a:pt x="0" y="8229600"/>
                </a:lnTo>
                <a:lnTo>
                  <a:pt x="0" y="0"/>
                </a:lnTo>
                <a:close/>
              </a:path>
            </a:pathLst>
          </a:custGeom>
          <a:blipFill>
            <a:blip r:embed="rId3">
              <a:alphaModFix amt="25000"/>
            </a:blip>
            <a:stretch>
              <a:fillRect/>
            </a:stretch>
          </a:blipFill>
        </p:spPr>
        <p:txBody>
          <a:bodyPr/>
          <a:lstStyle/>
          <a:p>
            <a:endParaRPr lang="ar-EG"/>
          </a:p>
        </p:txBody>
      </p:sp>
      <p:sp>
        <p:nvSpPr>
          <p:cNvPr id="4" name="Freeform 4"/>
          <p:cNvSpPr/>
          <p:nvPr/>
        </p:nvSpPr>
        <p:spPr>
          <a:xfrm>
            <a:off x="806000" y="746593"/>
            <a:ext cx="445400" cy="412198"/>
          </a:xfrm>
          <a:custGeom>
            <a:avLst/>
            <a:gdLst/>
            <a:ahLst/>
            <a:cxnLst/>
            <a:rect l="l" t="t" r="r" b="b"/>
            <a:pathLst>
              <a:path w="445400" h="412198">
                <a:moveTo>
                  <a:pt x="0" y="0"/>
                </a:moveTo>
                <a:lnTo>
                  <a:pt x="445400" y="0"/>
                </a:lnTo>
                <a:lnTo>
                  <a:pt x="445400" y="412197"/>
                </a:lnTo>
                <a:lnTo>
                  <a:pt x="0" y="4121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5" name="Freeform 5"/>
          <p:cNvSpPr/>
          <p:nvPr/>
        </p:nvSpPr>
        <p:spPr>
          <a:xfrm>
            <a:off x="12582238" y="0"/>
            <a:ext cx="6161913" cy="8229600"/>
          </a:xfrm>
          <a:custGeom>
            <a:avLst/>
            <a:gdLst/>
            <a:ahLst/>
            <a:cxnLst/>
            <a:rect l="l" t="t" r="r" b="b"/>
            <a:pathLst>
              <a:path w="6161913" h="8229600">
                <a:moveTo>
                  <a:pt x="0" y="0"/>
                </a:moveTo>
                <a:lnTo>
                  <a:pt x="6161913" y="0"/>
                </a:lnTo>
                <a:lnTo>
                  <a:pt x="6161913" y="8229600"/>
                </a:lnTo>
                <a:lnTo>
                  <a:pt x="0" y="8229600"/>
                </a:lnTo>
                <a:lnTo>
                  <a:pt x="0" y="0"/>
                </a:lnTo>
                <a:close/>
              </a:path>
            </a:pathLst>
          </a:custGeom>
          <a:blipFill>
            <a:blip r:embed="rId3">
              <a:alphaModFix amt="25000"/>
            </a:blip>
            <a:stretch>
              <a:fillRect/>
            </a:stretch>
          </a:blipFill>
        </p:spPr>
        <p:txBody>
          <a:bodyPr/>
          <a:lstStyle/>
          <a:p>
            <a:endParaRPr lang="ar-EG"/>
          </a:p>
        </p:txBody>
      </p:sp>
      <p:sp>
        <p:nvSpPr>
          <p:cNvPr id="6" name="Freeform 6"/>
          <p:cNvSpPr/>
          <p:nvPr/>
        </p:nvSpPr>
        <p:spPr>
          <a:xfrm>
            <a:off x="-2148717" y="2421520"/>
            <a:ext cx="5442322" cy="5511213"/>
          </a:xfrm>
          <a:custGeom>
            <a:avLst/>
            <a:gdLst/>
            <a:ahLst/>
            <a:cxnLst/>
            <a:rect l="l" t="t" r="r" b="b"/>
            <a:pathLst>
              <a:path w="5442322" h="5511213">
                <a:moveTo>
                  <a:pt x="0" y="0"/>
                </a:moveTo>
                <a:lnTo>
                  <a:pt x="5442323" y="0"/>
                </a:lnTo>
                <a:lnTo>
                  <a:pt x="5442323" y="5511212"/>
                </a:lnTo>
                <a:lnTo>
                  <a:pt x="0" y="5511212"/>
                </a:lnTo>
                <a:lnTo>
                  <a:pt x="0" y="0"/>
                </a:lnTo>
                <a:close/>
              </a:path>
            </a:pathLst>
          </a:custGeom>
          <a:blipFill>
            <a:blip r:embed="rId5"/>
            <a:stretch>
              <a:fillRect/>
            </a:stretch>
          </a:blipFill>
        </p:spPr>
        <p:txBody>
          <a:bodyPr/>
          <a:lstStyle/>
          <a:p>
            <a:endParaRPr lang="ar-EG"/>
          </a:p>
        </p:txBody>
      </p:sp>
      <p:sp>
        <p:nvSpPr>
          <p:cNvPr id="7" name="TextBox 7"/>
          <p:cNvSpPr txBox="1"/>
          <p:nvPr/>
        </p:nvSpPr>
        <p:spPr>
          <a:xfrm>
            <a:off x="3933152" y="4393067"/>
            <a:ext cx="5721860" cy="2120373"/>
          </a:xfrm>
          <a:prstGeom prst="rect">
            <a:avLst/>
          </a:prstGeom>
        </p:spPr>
        <p:txBody>
          <a:bodyPr lIns="0" tIns="0" rIns="0" bIns="0" rtlCol="0" anchor="t">
            <a:spAutoFit/>
          </a:bodyPr>
          <a:lstStyle/>
          <a:p>
            <a:pPr algn="l">
              <a:lnSpc>
                <a:spcPts val="7348"/>
              </a:lnSpc>
            </a:pPr>
            <a:r>
              <a:rPr lang="en-US" sz="8446" b="1">
                <a:solidFill>
                  <a:srgbClr val="FFFFFF"/>
                </a:solidFill>
                <a:latin typeface="Akzidenz-Grotesk Bold"/>
                <a:ea typeface="Akzidenz-Grotesk Bold"/>
                <a:cs typeface="Akzidenz-Grotesk Bold"/>
                <a:sym typeface="Akzidenz-Grotesk Bold"/>
              </a:rPr>
              <a:t>Project Overview </a:t>
            </a:r>
          </a:p>
        </p:txBody>
      </p:sp>
      <p:sp>
        <p:nvSpPr>
          <p:cNvPr id="8" name="TextBox 8"/>
          <p:cNvSpPr txBox="1"/>
          <p:nvPr/>
        </p:nvSpPr>
        <p:spPr>
          <a:xfrm>
            <a:off x="1594519" y="813076"/>
            <a:ext cx="2294398" cy="298262"/>
          </a:xfrm>
          <a:prstGeom prst="rect">
            <a:avLst/>
          </a:prstGeom>
        </p:spPr>
        <p:txBody>
          <a:bodyPr lIns="0" tIns="0" rIns="0" bIns="0" rtlCol="0" anchor="t">
            <a:spAutoFit/>
          </a:bodyPr>
          <a:lstStyle/>
          <a:p>
            <a:pPr algn="l">
              <a:lnSpc>
                <a:spcPts val="2460"/>
              </a:lnSpc>
              <a:spcBef>
                <a:spcPct val="0"/>
              </a:spcBef>
            </a:pPr>
            <a:r>
              <a:rPr lang="en-US" sz="1757">
                <a:solidFill>
                  <a:srgbClr val="FFFFFF"/>
                </a:solidFill>
                <a:latin typeface="Garet"/>
                <a:ea typeface="Garet"/>
                <a:cs typeface="Garet"/>
                <a:sym typeface="Garet"/>
              </a:rPr>
              <a:t>The Idea</a:t>
            </a:r>
          </a:p>
        </p:txBody>
      </p:sp>
      <p:sp>
        <p:nvSpPr>
          <p:cNvPr id="9" name="TextBox 9"/>
          <p:cNvSpPr txBox="1"/>
          <p:nvPr/>
        </p:nvSpPr>
        <p:spPr>
          <a:xfrm>
            <a:off x="790001" y="9083964"/>
            <a:ext cx="1303798" cy="298281"/>
          </a:xfrm>
          <a:prstGeom prst="rect">
            <a:avLst/>
          </a:prstGeom>
        </p:spPr>
        <p:txBody>
          <a:bodyPr lIns="0" tIns="0" rIns="0" bIns="0" rtlCol="0" anchor="t">
            <a:spAutoFit/>
          </a:bodyPr>
          <a:lstStyle/>
          <a:p>
            <a:pPr algn="l">
              <a:lnSpc>
                <a:spcPts val="2460"/>
              </a:lnSpc>
              <a:spcBef>
                <a:spcPct val="0"/>
              </a:spcBef>
            </a:pPr>
            <a:r>
              <a:rPr lang="en-US" sz="1757">
                <a:solidFill>
                  <a:srgbClr val="FFFFFF"/>
                </a:solidFill>
                <a:latin typeface="Garet"/>
                <a:ea typeface="Garet"/>
                <a:cs typeface="Garet"/>
                <a:sym typeface="Garet"/>
              </a:rPr>
              <a:t>PAGE 02</a:t>
            </a:r>
          </a:p>
        </p:txBody>
      </p:sp>
      <p:sp>
        <p:nvSpPr>
          <p:cNvPr id="10" name="TextBox 10"/>
          <p:cNvSpPr txBox="1"/>
          <p:nvPr/>
        </p:nvSpPr>
        <p:spPr>
          <a:xfrm>
            <a:off x="8926501" y="3266922"/>
            <a:ext cx="8469270" cy="3867355"/>
          </a:xfrm>
          <a:prstGeom prst="rect">
            <a:avLst/>
          </a:prstGeom>
        </p:spPr>
        <p:txBody>
          <a:bodyPr lIns="0" tIns="0" rIns="0" bIns="0" rtlCol="0" anchor="t">
            <a:spAutoFit/>
          </a:bodyPr>
          <a:lstStyle/>
          <a:p>
            <a:pPr marL="438509" lvl="1" indent="-219254" algn="l">
              <a:lnSpc>
                <a:spcPts val="2843"/>
              </a:lnSpc>
              <a:buFont typeface="Arial"/>
              <a:buChar char="•"/>
            </a:pPr>
            <a:r>
              <a:rPr lang="en-US" sz="2031" b="1">
                <a:solidFill>
                  <a:srgbClr val="FFFFFF"/>
                </a:solidFill>
                <a:latin typeface="Garet Bold"/>
                <a:ea typeface="Garet Bold"/>
                <a:cs typeface="Garet Bold"/>
                <a:sym typeface="Garet Bold"/>
              </a:rPr>
              <a:t>Description:</a:t>
            </a:r>
            <a:r>
              <a:rPr lang="en-US" sz="2031">
                <a:solidFill>
                  <a:srgbClr val="FFFFFF"/>
                </a:solidFill>
                <a:latin typeface="Garet"/>
                <a:ea typeface="Garet"/>
                <a:cs typeface="Garet"/>
                <a:sym typeface="Garet"/>
              </a:rPr>
              <a:t> A real-time, 3D mathematical simulation of our Solar System.</a:t>
            </a:r>
          </a:p>
          <a:p>
            <a:pPr marL="438509" lvl="1" indent="-219254" algn="l">
              <a:lnSpc>
                <a:spcPts val="2843"/>
              </a:lnSpc>
              <a:buFont typeface="Arial"/>
              <a:buChar char="•"/>
            </a:pPr>
            <a:r>
              <a:rPr lang="en-US" sz="2031" b="1">
                <a:solidFill>
                  <a:srgbClr val="FFFFFF"/>
                </a:solidFill>
                <a:latin typeface="Garet Bold"/>
                <a:ea typeface="Garet Bold"/>
                <a:cs typeface="Garet Bold"/>
                <a:sym typeface="Garet Bold"/>
              </a:rPr>
              <a:t>Core Technology:</a:t>
            </a:r>
            <a:r>
              <a:rPr lang="en-US" sz="2031">
                <a:solidFill>
                  <a:srgbClr val="FFFFFF"/>
                </a:solidFill>
                <a:latin typeface="Garet"/>
                <a:ea typeface="Garet"/>
                <a:cs typeface="Garet"/>
                <a:sym typeface="Garet"/>
              </a:rPr>
              <a:t> Built entirely from the ground up using C++ and the OpenGL graphics API. We explicitly avoided high-level game engines (like Unity or Unreal) to gain a foundational understanding of the graphics rendering pipeline.</a:t>
            </a:r>
          </a:p>
          <a:p>
            <a:pPr marL="438509" lvl="1" indent="-219254" algn="l">
              <a:lnSpc>
                <a:spcPts val="2843"/>
              </a:lnSpc>
              <a:buFont typeface="Arial"/>
              <a:buChar char="•"/>
            </a:pPr>
            <a:r>
              <a:rPr lang="en-US" sz="2031" b="1">
                <a:solidFill>
                  <a:srgbClr val="FFFFFF"/>
                </a:solidFill>
                <a:latin typeface="Garet Bold"/>
                <a:ea typeface="Garet Bold"/>
                <a:cs typeface="Garet Bold"/>
                <a:sym typeface="Garet Bold"/>
              </a:rPr>
              <a:t>Purpose:</a:t>
            </a:r>
            <a:r>
              <a:rPr lang="en-US" sz="2031">
                <a:solidFill>
                  <a:srgbClr val="FFFFFF"/>
                </a:solidFill>
                <a:latin typeface="Garet"/>
                <a:ea typeface="Garet"/>
                <a:cs typeface="Garet"/>
                <a:sym typeface="Garet"/>
              </a:rPr>
              <a:t> To create an interactive, visually engaging educational tool demonstrating planetary orbits, hierarchical modeling, and core computer graphics concepts.</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444" b="-6444"/>
            </a:stretch>
          </a:blipFill>
        </p:spPr>
        <p:txBody>
          <a:bodyPr/>
          <a:lstStyle/>
          <a:p>
            <a:endParaRPr lang="ar-EG"/>
          </a:p>
        </p:txBody>
      </p:sp>
      <p:sp>
        <p:nvSpPr>
          <p:cNvPr id="3" name="Freeform 3"/>
          <p:cNvSpPr/>
          <p:nvPr/>
        </p:nvSpPr>
        <p:spPr>
          <a:xfrm>
            <a:off x="-2508512" y="2751132"/>
            <a:ext cx="6161913" cy="8229600"/>
          </a:xfrm>
          <a:custGeom>
            <a:avLst/>
            <a:gdLst/>
            <a:ahLst/>
            <a:cxnLst/>
            <a:rect l="l" t="t" r="r" b="b"/>
            <a:pathLst>
              <a:path w="6161913" h="8229600">
                <a:moveTo>
                  <a:pt x="0" y="0"/>
                </a:moveTo>
                <a:lnTo>
                  <a:pt x="6161913" y="0"/>
                </a:lnTo>
                <a:lnTo>
                  <a:pt x="6161913" y="8229600"/>
                </a:lnTo>
                <a:lnTo>
                  <a:pt x="0" y="8229600"/>
                </a:lnTo>
                <a:lnTo>
                  <a:pt x="0" y="0"/>
                </a:lnTo>
                <a:close/>
              </a:path>
            </a:pathLst>
          </a:custGeom>
          <a:blipFill>
            <a:blip r:embed="rId3">
              <a:alphaModFix amt="25000"/>
            </a:blip>
            <a:stretch>
              <a:fillRect/>
            </a:stretch>
          </a:blipFill>
        </p:spPr>
        <p:txBody>
          <a:bodyPr/>
          <a:lstStyle/>
          <a:p>
            <a:endParaRPr lang="ar-EG"/>
          </a:p>
        </p:txBody>
      </p:sp>
      <p:sp>
        <p:nvSpPr>
          <p:cNvPr id="4" name="Freeform 4"/>
          <p:cNvSpPr/>
          <p:nvPr/>
        </p:nvSpPr>
        <p:spPr>
          <a:xfrm>
            <a:off x="806000" y="746593"/>
            <a:ext cx="445400" cy="412198"/>
          </a:xfrm>
          <a:custGeom>
            <a:avLst/>
            <a:gdLst/>
            <a:ahLst/>
            <a:cxnLst/>
            <a:rect l="l" t="t" r="r" b="b"/>
            <a:pathLst>
              <a:path w="445400" h="412198">
                <a:moveTo>
                  <a:pt x="0" y="0"/>
                </a:moveTo>
                <a:lnTo>
                  <a:pt x="445400" y="0"/>
                </a:lnTo>
                <a:lnTo>
                  <a:pt x="445400" y="412197"/>
                </a:lnTo>
                <a:lnTo>
                  <a:pt x="0" y="4121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5" name="Freeform 5"/>
          <p:cNvSpPr/>
          <p:nvPr/>
        </p:nvSpPr>
        <p:spPr>
          <a:xfrm>
            <a:off x="13752241" y="0"/>
            <a:ext cx="6161913" cy="8229600"/>
          </a:xfrm>
          <a:custGeom>
            <a:avLst/>
            <a:gdLst/>
            <a:ahLst/>
            <a:cxnLst/>
            <a:rect l="l" t="t" r="r" b="b"/>
            <a:pathLst>
              <a:path w="6161913" h="8229600">
                <a:moveTo>
                  <a:pt x="0" y="0"/>
                </a:moveTo>
                <a:lnTo>
                  <a:pt x="6161913" y="0"/>
                </a:lnTo>
                <a:lnTo>
                  <a:pt x="6161913" y="8229600"/>
                </a:lnTo>
                <a:lnTo>
                  <a:pt x="0" y="8229600"/>
                </a:lnTo>
                <a:lnTo>
                  <a:pt x="0" y="0"/>
                </a:lnTo>
                <a:close/>
              </a:path>
            </a:pathLst>
          </a:custGeom>
          <a:blipFill>
            <a:blip r:embed="rId3">
              <a:alphaModFix amt="25000"/>
            </a:blip>
            <a:stretch>
              <a:fillRect/>
            </a:stretch>
          </a:blipFill>
        </p:spPr>
        <p:txBody>
          <a:bodyPr/>
          <a:lstStyle/>
          <a:p>
            <a:endParaRPr lang="ar-EG"/>
          </a:p>
        </p:txBody>
      </p:sp>
      <p:sp>
        <p:nvSpPr>
          <p:cNvPr id="6" name="TextBox 6"/>
          <p:cNvSpPr txBox="1"/>
          <p:nvPr/>
        </p:nvSpPr>
        <p:spPr>
          <a:xfrm>
            <a:off x="3933853" y="2213132"/>
            <a:ext cx="10725094" cy="1180775"/>
          </a:xfrm>
          <a:prstGeom prst="rect">
            <a:avLst/>
          </a:prstGeom>
        </p:spPr>
        <p:txBody>
          <a:bodyPr lIns="0" tIns="0" rIns="0" bIns="0" rtlCol="0" anchor="t">
            <a:spAutoFit/>
          </a:bodyPr>
          <a:lstStyle/>
          <a:p>
            <a:pPr algn="ctr">
              <a:lnSpc>
                <a:spcPts val="7348"/>
              </a:lnSpc>
            </a:pPr>
            <a:r>
              <a:rPr lang="en-US" sz="8446" b="1">
                <a:solidFill>
                  <a:srgbClr val="FFFFFF"/>
                </a:solidFill>
                <a:latin typeface="Akzidenz-Grotesk Bold"/>
                <a:ea typeface="Akzidenz-Grotesk Bold"/>
                <a:cs typeface="Akzidenz-Grotesk Bold"/>
                <a:sym typeface="Akzidenz-Grotesk Bold"/>
              </a:rPr>
              <a:t>Objectives &amp; Goals</a:t>
            </a:r>
          </a:p>
        </p:txBody>
      </p:sp>
      <p:sp>
        <p:nvSpPr>
          <p:cNvPr id="7" name="TextBox 7"/>
          <p:cNvSpPr txBox="1"/>
          <p:nvPr/>
        </p:nvSpPr>
        <p:spPr>
          <a:xfrm>
            <a:off x="1594519" y="813076"/>
            <a:ext cx="2294398" cy="298262"/>
          </a:xfrm>
          <a:prstGeom prst="rect">
            <a:avLst/>
          </a:prstGeom>
        </p:spPr>
        <p:txBody>
          <a:bodyPr lIns="0" tIns="0" rIns="0" bIns="0" rtlCol="0" anchor="t">
            <a:spAutoFit/>
          </a:bodyPr>
          <a:lstStyle/>
          <a:p>
            <a:pPr algn="l">
              <a:lnSpc>
                <a:spcPts val="2460"/>
              </a:lnSpc>
              <a:spcBef>
                <a:spcPct val="0"/>
              </a:spcBef>
            </a:pPr>
            <a:r>
              <a:rPr lang="en-US" sz="1757">
                <a:solidFill>
                  <a:srgbClr val="FFFFFF"/>
                </a:solidFill>
                <a:latin typeface="Garet"/>
                <a:ea typeface="Garet"/>
                <a:cs typeface="Garet"/>
                <a:sym typeface="Garet"/>
              </a:rPr>
              <a:t>Project Overview </a:t>
            </a:r>
          </a:p>
        </p:txBody>
      </p:sp>
      <p:sp>
        <p:nvSpPr>
          <p:cNvPr id="8" name="TextBox 8"/>
          <p:cNvSpPr txBox="1"/>
          <p:nvPr/>
        </p:nvSpPr>
        <p:spPr>
          <a:xfrm>
            <a:off x="790001" y="9083964"/>
            <a:ext cx="1303798" cy="298281"/>
          </a:xfrm>
          <a:prstGeom prst="rect">
            <a:avLst/>
          </a:prstGeom>
        </p:spPr>
        <p:txBody>
          <a:bodyPr lIns="0" tIns="0" rIns="0" bIns="0" rtlCol="0" anchor="t">
            <a:spAutoFit/>
          </a:bodyPr>
          <a:lstStyle/>
          <a:p>
            <a:pPr algn="l">
              <a:lnSpc>
                <a:spcPts val="2460"/>
              </a:lnSpc>
              <a:spcBef>
                <a:spcPct val="0"/>
              </a:spcBef>
            </a:pPr>
            <a:r>
              <a:rPr lang="en-US" sz="1757">
                <a:solidFill>
                  <a:srgbClr val="FFFFFF"/>
                </a:solidFill>
                <a:latin typeface="Garet"/>
                <a:ea typeface="Garet"/>
                <a:cs typeface="Garet"/>
                <a:sym typeface="Garet"/>
              </a:rPr>
              <a:t>PAGE 03</a:t>
            </a:r>
          </a:p>
        </p:txBody>
      </p:sp>
      <p:sp>
        <p:nvSpPr>
          <p:cNvPr id="9" name="TextBox 9"/>
          <p:cNvSpPr txBox="1"/>
          <p:nvPr/>
        </p:nvSpPr>
        <p:spPr>
          <a:xfrm>
            <a:off x="4017705" y="3658010"/>
            <a:ext cx="10252589" cy="5600290"/>
          </a:xfrm>
          <a:prstGeom prst="rect">
            <a:avLst/>
          </a:prstGeom>
        </p:spPr>
        <p:txBody>
          <a:bodyPr lIns="0" tIns="0" rIns="0" bIns="0" rtlCol="0" anchor="t">
            <a:spAutoFit/>
          </a:bodyPr>
          <a:lstStyle/>
          <a:p>
            <a:pPr marL="435995" lvl="1" indent="-217997" algn="l">
              <a:lnSpc>
                <a:spcPts val="2827"/>
              </a:lnSpc>
              <a:buFont typeface="Arial"/>
              <a:buChar char="•"/>
            </a:pPr>
            <a:r>
              <a:rPr lang="en-US" sz="2019" b="1">
                <a:solidFill>
                  <a:srgbClr val="FFFFFF"/>
                </a:solidFill>
                <a:latin typeface="Garet Bold"/>
                <a:ea typeface="Garet Bold"/>
                <a:cs typeface="Garet Bold"/>
                <a:sym typeface="Garet Bold"/>
              </a:rPr>
              <a:t>Orbital Mechanics:</a:t>
            </a:r>
            <a:r>
              <a:rPr lang="en-US" sz="2019">
                <a:solidFill>
                  <a:srgbClr val="FFFFFF"/>
                </a:solidFill>
                <a:latin typeface="Garet"/>
                <a:ea typeface="Garet"/>
                <a:cs typeface="Garet"/>
                <a:sym typeface="Garet"/>
              </a:rPr>
              <a:t> Demonstrate accurate relative planetary movement, approximating elliptical orbits and variable orbital speeds based on distance from the central star.</a:t>
            </a:r>
          </a:p>
          <a:p>
            <a:pPr marL="435995" lvl="1" indent="-217997" algn="l">
              <a:lnSpc>
                <a:spcPts val="2827"/>
              </a:lnSpc>
              <a:buFont typeface="Arial"/>
              <a:buChar char="•"/>
            </a:pPr>
            <a:r>
              <a:rPr lang="en-US" sz="2019" b="1">
                <a:solidFill>
                  <a:srgbClr val="FFFFFF"/>
                </a:solidFill>
                <a:latin typeface="Garet Bold"/>
                <a:ea typeface="Garet Bold"/>
                <a:cs typeface="Garet Bold"/>
                <a:sym typeface="Garet Bold"/>
              </a:rPr>
              <a:t>Graphics Mathematics:</a:t>
            </a:r>
            <a:r>
              <a:rPr lang="en-US" sz="2019">
                <a:solidFill>
                  <a:srgbClr val="FFFFFF"/>
                </a:solidFill>
                <a:latin typeface="Garet"/>
                <a:ea typeface="Garet"/>
                <a:cs typeface="Garet"/>
                <a:sym typeface="Garet"/>
              </a:rPr>
              <a:t> Implement core graphical transformations (translation, rotation, scaling) using matrix algebra.</a:t>
            </a:r>
          </a:p>
          <a:p>
            <a:pPr marL="435995" lvl="1" indent="-217997" algn="l">
              <a:lnSpc>
                <a:spcPts val="2827"/>
              </a:lnSpc>
              <a:buFont typeface="Arial"/>
              <a:buChar char="•"/>
            </a:pPr>
            <a:r>
              <a:rPr lang="en-US" sz="2019" b="1">
                <a:solidFill>
                  <a:srgbClr val="FFFFFF"/>
                </a:solidFill>
                <a:latin typeface="Garet Bold"/>
                <a:ea typeface="Garet Bold"/>
                <a:cs typeface="Garet Bold"/>
                <a:sym typeface="Garet Bold"/>
              </a:rPr>
              <a:t>System Interactions: </a:t>
            </a:r>
            <a:r>
              <a:rPr lang="en-US" sz="2019">
                <a:solidFill>
                  <a:srgbClr val="FFFFFF"/>
                </a:solidFill>
                <a:latin typeface="Garet"/>
                <a:ea typeface="Garet"/>
                <a:cs typeface="Garet"/>
                <a:sym typeface="Garet"/>
              </a:rPr>
              <a:t>Showcase dynamic system interactions, user input processing, and real-time rendering loops.</a:t>
            </a:r>
          </a:p>
          <a:p>
            <a:pPr marL="435995" lvl="1" indent="-217997" algn="l">
              <a:lnSpc>
                <a:spcPts val="2827"/>
              </a:lnSpc>
              <a:buFont typeface="Arial"/>
              <a:buChar char="•"/>
            </a:pPr>
            <a:r>
              <a:rPr lang="en-US" sz="2019" b="1">
                <a:solidFill>
                  <a:srgbClr val="FFFFFF"/>
                </a:solidFill>
                <a:latin typeface="Garet Bold"/>
                <a:ea typeface="Garet Bold"/>
                <a:cs typeface="Garet Bold"/>
                <a:sym typeface="Garet Bold"/>
              </a:rPr>
              <a:t>Advanced Techniques:</a:t>
            </a:r>
            <a:r>
              <a:rPr lang="en-US" sz="2019">
                <a:solidFill>
                  <a:srgbClr val="FFFFFF"/>
                </a:solidFill>
                <a:latin typeface="Garet"/>
                <a:ea typeface="Garet"/>
                <a:cs typeface="Garet"/>
                <a:sym typeface="Garet"/>
              </a:rPr>
              <a:t> Apply advanced graphics techniques like the Phong lighting model and UV texture mapping.</a:t>
            </a:r>
          </a:p>
          <a:p>
            <a:pPr marL="435995" lvl="1" indent="-217997" algn="l">
              <a:lnSpc>
                <a:spcPts val="2827"/>
              </a:lnSpc>
              <a:buFont typeface="Arial"/>
              <a:buChar char="•"/>
            </a:pPr>
            <a:r>
              <a:rPr lang="en-US" sz="2019" b="1">
                <a:solidFill>
                  <a:srgbClr val="FFFFFF"/>
                </a:solidFill>
                <a:latin typeface="Garet Bold"/>
                <a:ea typeface="Garet Bold"/>
                <a:cs typeface="Garet Bold"/>
                <a:sym typeface="Garet Bold"/>
              </a:rPr>
              <a:t>Importance of Interactive Elements: </a:t>
            </a:r>
            <a:r>
              <a:rPr lang="en-US" sz="2019">
                <a:solidFill>
                  <a:srgbClr val="FFFFFF"/>
                </a:solidFill>
                <a:latin typeface="Garet"/>
                <a:ea typeface="Garet"/>
                <a:cs typeface="Garet"/>
                <a:sym typeface="Garet"/>
              </a:rPr>
              <a:t>Real-time rendering transforms a passive viewer into an active explorer. Being able to change perspectives, alter time speeds, or toggle rendering modes drastically improves knowledge retention. It provides a hands-on learning experience that static textbooks simply cannot offer, allowing the user to "feel" the spatial relationships between bodies.</a:t>
            </a:r>
          </a:p>
          <a:p>
            <a:pPr algn="l">
              <a:lnSpc>
                <a:spcPts val="2827"/>
              </a:lnSpc>
              <a:spcBef>
                <a:spcPct val="0"/>
              </a:spcBef>
            </a:pPr>
            <a:endParaRPr lang="en-US" sz="2019">
              <a:solidFill>
                <a:srgbClr val="FFFFFF"/>
              </a:solidFill>
              <a:latin typeface="Garet"/>
              <a:ea typeface="Garet"/>
              <a:cs typeface="Garet"/>
              <a:sym typeface="Garet"/>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444" b="-6444"/>
            </a:stretch>
          </a:blipFill>
        </p:spPr>
        <p:txBody>
          <a:bodyPr/>
          <a:lstStyle/>
          <a:p>
            <a:endParaRPr lang="ar-EG"/>
          </a:p>
        </p:txBody>
      </p:sp>
      <p:sp>
        <p:nvSpPr>
          <p:cNvPr id="3" name="Freeform 3"/>
          <p:cNvSpPr/>
          <p:nvPr/>
        </p:nvSpPr>
        <p:spPr>
          <a:xfrm>
            <a:off x="-2508512" y="2751132"/>
            <a:ext cx="6161913" cy="8229600"/>
          </a:xfrm>
          <a:custGeom>
            <a:avLst/>
            <a:gdLst/>
            <a:ahLst/>
            <a:cxnLst/>
            <a:rect l="l" t="t" r="r" b="b"/>
            <a:pathLst>
              <a:path w="6161913" h="8229600">
                <a:moveTo>
                  <a:pt x="0" y="0"/>
                </a:moveTo>
                <a:lnTo>
                  <a:pt x="6161913" y="0"/>
                </a:lnTo>
                <a:lnTo>
                  <a:pt x="6161913" y="8229600"/>
                </a:lnTo>
                <a:lnTo>
                  <a:pt x="0" y="8229600"/>
                </a:lnTo>
                <a:lnTo>
                  <a:pt x="0" y="0"/>
                </a:lnTo>
                <a:close/>
              </a:path>
            </a:pathLst>
          </a:custGeom>
          <a:blipFill>
            <a:blip r:embed="rId3">
              <a:alphaModFix amt="25000"/>
            </a:blip>
            <a:stretch>
              <a:fillRect/>
            </a:stretch>
          </a:blipFill>
        </p:spPr>
        <p:txBody>
          <a:bodyPr/>
          <a:lstStyle/>
          <a:p>
            <a:endParaRPr lang="ar-EG"/>
          </a:p>
        </p:txBody>
      </p:sp>
      <p:sp>
        <p:nvSpPr>
          <p:cNvPr id="4" name="Freeform 4"/>
          <p:cNvSpPr/>
          <p:nvPr/>
        </p:nvSpPr>
        <p:spPr>
          <a:xfrm>
            <a:off x="806000" y="746593"/>
            <a:ext cx="445400" cy="412198"/>
          </a:xfrm>
          <a:custGeom>
            <a:avLst/>
            <a:gdLst/>
            <a:ahLst/>
            <a:cxnLst/>
            <a:rect l="l" t="t" r="r" b="b"/>
            <a:pathLst>
              <a:path w="445400" h="412198">
                <a:moveTo>
                  <a:pt x="0" y="0"/>
                </a:moveTo>
                <a:lnTo>
                  <a:pt x="445400" y="0"/>
                </a:lnTo>
                <a:lnTo>
                  <a:pt x="445400" y="412197"/>
                </a:lnTo>
                <a:lnTo>
                  <a:pt x="0" y="4121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5" name="Freeform 5"/>
          <p:cNvSpPr/>
          <p:nvPr/>
        </p:nvSpPr>
        <p:spPr>
          <a:xfrm>
            <a:off x="15138847" y="0"/>
            <a:ext cx="6161913" cy="8229600"/>
          </a:xfrm>
          <a:custGeom>
            <a:avLst/>
            <a:gdLst/>
            <a:ahLst/>
            <a:cxnLst/>
            <a:rect l="l" t="t" r="r" b="b"/>
            <a:pathLst>
              <a:path w="6161913" h="8229600">
                <a:moveTo>
                  <a:pt x="0" y="0"/>
                </a:moveTo>
                <a:lnTo>
                  <a:pt x="6161913" y="0"/>
                </a:lnTo>
                <a:lnTo>
                  <a:pt x="6161913" y="8229600"/>
                </a:lnTo>
                <a:lnTo>
                  <a:pt x="0" y="8229600"/>
                </a:lnTo>
                <a:lnTo>
                  <a:pt x="0" y="0"/>
                </a:lnTo>
                <a:close/>
              </a:path>
            </a:pathLst>
          </a:custGeom>
          <a:blipFill>
            <a:blip r:embed="rId3">
              <a:alphaModFix amt="25000"/>
            </a:blip>
            <a:stretch>
              <a:fillRect/>
            </a:stretch>
          </a:blipFill>
        </p:spPr>
        <p:txBody>
          <a:bodyPr/>
          <a:lstStyle/>
          <a:p>
            <a:endParaRPr lang="ar-EG"/>
          </a:p>
        </p:txBody>
      </p:sp>
      <p:grpSp>
        <p:nvGrpSpPr>
          <p:cNvPr id="6" name="Group 6"/>
          <p:cNvGrpSpPr>
            <a:grpSpLocks noChangeAspect="1"/>
          </p:cNvGrpSpPr>
          <p:nvPr/>
        </p:nvGrpSpPr>
        <p:grpSpPr>
          <a:xfrm>
            <a:off x="10562728" y="1990100"/>
            <a:ext cx="4233219" cy="4233219"/>
            <a:chOff x="0" y="0"/>
            <a:chExt cx="14840029" cy="14840029"/>
          </a:xfrm>
        </p:grpSpPr>
        <p:sp>
          <p:nvSpPr>
            <p:cNvPr id="7" name="Freeform 7"/>
            <p:cNvSpPr/>
            <p:nvPr/>
          </p:nvSpPr>
          <p:spPr>
            <a:xfrm>
              <a:off x="-33258" y="-75"/>
              <a:ext cx="14906544" cy="14840178"/>
            </a:xfrm>
            <a:custGeom>
              <a:avLst/>
              <a:gdLst/>
              <a:ahLst/>
              <a:cxnLst/>
              <a:rect l="l" t="t" r="r" b="b"/>
              <a:pathLst>
                <a:path w="14906544" h="14840178">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1">
              <a:gsLst>
                <a:gs pos="0">
                  <a:srgbClr val="515269">
                    <a:alpha val="100000"/>
                  </a:srgbClr>
                </a:gs>
                <a:gs pos="100000">
                  <a:srgbClr val="00012E">
                    <a:alpha val="0"/>
                  </a:srgbClr>
                </a:gs>
              </a:gsLst>
              <a:lin ang="0"/>
            </a:gradFill>
          </p:spPr>
          <p:txBody>
            <a:bodyPr/>
            <a:lstStyle/>
            <a:p>
              <a:endParaRPr lang="ar-EG"/>
            </a:p>
          </p:txBody>
        </p:sp>
        <p:sp>
          <p:nvSpPr>
            <p:cNvPr id="8" name="Freeform 8"/>
            <p:cNvSpPr/>
            <p:nvPr/>
          </p:nvSpPr>
          <p:spPr>
            <a:xfrm>
              <a:off x="168022" y="200309"/>
              <a:ext cx="14503985" cy="14439411"/>
            </a:xfrm>
            <a:custGeom>
              <a:avLst/>
              <a:gdLst/>
              <a:ahLst/>
              <a:cxnLst/>
              <a:rect l="l" t="t" r="r" b="b"/>
              <a:pathLst>
                <a:path w="14503985" h="14439411">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txBody>
            <a:bodyPr/>
            <a:lstStyle/>
            <a:p>
              <a:endParaRPr lang="ar-EG"/>
            </a:p>
          </p:txBody>
        </p:sp>
        <p:sp>
          <p:nvSpPr>
            <p:cNvPr id="9" name="Freeform 9"/>
            <p:cNvSpPr/>
            <p:nvPr/>
          </p:nvSpPr>
          <p:spPr>
            <a:xfrm>
              <a:off x="531276" y="561946"/>
              <a:ext cx="13777477" cy="13716137"/>
            </a:xfrm>
            <a:custGeom>
              <a:avLst/>
              <a:gdLst/>
              <a:ahLst/>
              <a:cxnLst/>
              <a:rect l="l" t="t" r="r" b="b"/>
              <a:pathLst>
                <a:path w="13777477" h="1371613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5"/>
              <a:stretch>
                <a:fillRect l="-38492" r="-38492"/>
              </a:stretch>
            </a:blipFill>
          </p:spPr>
          <p:txBody>
            <a:bodyPr/>
            <a:lstStyle/>
            <a:p>
              <a:endParaRPr lang="ar-EG"/>
            </a:p>
          </p:txBody>
        </p:sp>
      </p:grpSp>
      <p:sp>
        <p:nvSpPr>
          <p:cNvPr id="10" name="TextBox 10"/>
          <p:cNvSpPr txBox="1"/>
          <p:nvPr/>
        </p:nvSpPr>
        <p:spPr>
          <a:xfrm>
            <a:off x="572445" y="2002480"/>
            <a:ext cx="8571555" cy="2112320"/>
          </a:xfrm>
          <a:prstGeom prst="rect">
            <a:avLst/>
          </a:prstGeom>
        </p:spPr>
        <p:txBody>
          <a:bodyPr lIns="0" tIns="0" rIns="0" bIns="0" rtlCol="0" anchor="t">
            <a:spAutoFit/>
          </a:bodyPr>
          <a:lstStyle/>
          <a:p>
            <a:pPr algn="l">
              <a:lnSpc>
                <a:spcPts val="7348"/>
              </a:lnSpc>
            </a:pPr>
            <a:r>
              <a:rPr lang="en-US" sz="8446" b="1">
                <a:solidFill>
                  <a:srgbClr val="FFFFFF"/>
                </a:solidFill>
                <a:latin typeface="Akzidenz-Grotesk Bold"/>
                <a:ea typeface="Akzidenz-Grotesk Bold"/>
                <a:cs typeface="Akzidenz-Grotesk Bold"/>
                <a:sym typeface="Akzidenz-Grotesk Bold"/>
              </a:rPr>
              <a:t>Transformations and Math</a:t>
            </a:r>
          </a:p>
        </p:txBody>
      </p:sp>
      <p:sp>
        <p:nvSpPr>
          <p:cNvPr id="11" name="TextBox 11"/>
          <p:cNvSpPr txBox="1"/>
          <p:nvPr/>
        </p:nvSpPr>
        <p:spPr>
          <a:xfrm>
            <a:off x="1594519" y="813076"/>
            <a:ext cx="2294398" cy="298262"/>
          </a:xfrm>
          <a:prstGeom prst="rect">
            <a:avLst/>
          </a:prstGeom>
        </p:spPr>
        <p:txBody>
          <a:bodyPr lIns="0" tIns="0" rIns="0" bIns="0" rtlCol="0" anchor="t">
            <a:spAutoFit/>
          </a:bodyPr>
          <a:lstStyle/>
          <a:p>
            <a:pPr algn="l">
              <a:lnSpc>
                <a:spcPts val="2460"/>
              </a:lnSpc>
              <a:spcBef>
                <a:spcPct val="0"/>
              </a:spcBef>
            </a:pPr>
            <a:r>
              <a:rPr lang="en-US" sz="1757">
                <a:solidFill>
                  <a:srgbClr val="FFFFFF"/>
                </a:solidFill>
                <a:latin typeface="Garet"/>
                <a:ea typeface="Garet"/>
                <a:cs typeface="Garet"/>
                <a:sym typeface="Garet"/>
              </a:rPr>
              <a:t>Graphics Concepts</a:t>
            </a:r>
          </a:p>
        </p:txBody>
      </p:sp>
      <p:sp>
        <p:nvSpPr>
          <p:cNvPr id="12" name="TextBox 12"/>
          <p:cNvSpPr txBox="1"/>
          <p:nvPr/>
        </p:nvSpPr>
        <p:spPr>
          <a:xfrm>
            <a:off x="790001" y="9083964"/>
            <a:ext cx="1303798" cy="298281"/>
          </a:xfrm>
          <a:prstGeom prst="rect">
            <a:avLst/>
          </a:prstGeom>
        </p:spPr>
        <p:txBody>
          <a:bodyPr lIns="0" tIns="0" rIns="0" bIns="0" rtlCol="0" anchor="t">
            <a:spAutoFit/>
          </a:bodyPr>
          <a:lstStyle/>
          <a:p>
            <a:pPr algn="l">
              <a:lnSpc>
                <a:spcPts val="2460"/>
              </a:lnSpc>
              <a:spcBef>
                <a:spcPct val="0"/>
              </a:spcBef>
            </a:pPr>
            <a:r>
              <a:rPr lang="en-US" sz="1757">
                <a:solidFill>
                  <a:srgbClr val="FFFFFF"/>
                </a:solidFill>
                <a:latin typeface="Garet"/>
                <a:ea typeface="Garet"/>
                <a:cs typeface="Garet"/>
                <a:sym typeface="Garet"/>
              </a:rPr>
              <a:t>PAGE 04</a:t>
            </a:r>
          </a:p>
        </p:txBody>
      </p:sp>
      <p:sp>
        <p:nvSpPr>
          <p:cNvPr id="13" name="TextBox 13"/>
          <p:cNvSpPr txBox="1"/>
          <p:nvPr/>
        </p:nvSpPr>
        <p:spPr>
          <a:xfrm>
            <a:off x="806000" y="4531138"/>
            <a:ext cx="9756728" cy="3539194"/>
          </a:xfrm>
          <a:prstGeom prst="rect">
            <a:avLst/>
          </a:prstGeom>
        </p:spPr>
        <p:txBody>
          <a:bodyPr lIns="0" tIns="0" rIns="0" bIns="0" rtlCol="0" anchor="t">
            <a:spAutoFit/>
          </a:bodyPr>
          <a:lstStyle/>
          <a:p>
            <a:pPr marL="401549" lvl="1" indent="-200774" algn="l">
              <a:lnSpc>
                <a:spcPts val="2603"/>
              </a:lnSpc>
              <a:buFont typeface="Arial"/>
              <a:buChar char="•"/>
            </a:pPr>
            <a:r>
              <a:rPr lang="en-US" sz="1859" b="1">
                <a:solidFill>
                  <a:srgbClr val="FFFFFF"/>
                </a:solidFill>
                <a:latin typeface="Garet Bold"/>
                <a:ea typeface="Garet Bold"/>
                <a:cs typeface="Garet Bold"/>
                <a:sym typeface="Garet Bold"/>
              </a:rPr>
              <a:t>Scaling Matrix:</a:t>
            </a:r>
            <a:r>
              <a:rPr lang="en-US" sz="1859">
                <a:solidFill>
                  <a:srgbClr val="FFFFFF"/>
                </a:solidFill>
                <a:latin typeface="Garet"/>
                <a:ea typeface="Garet"/>
                <a:cs typeface="Garet"/>
                <a:sym typeface="Garet"/>
              </a:rPr>
              <a:t> Used to give each planet and the sun relative size differences. This is vital for conveying the immense variation in scale across the solar system, requiring precise float values to scale the unit sphere down to Earth-size or up to Jupiter-size.</a:t>
            </a:r>
          </a:p>
          <a:p>
            <a:pPr marL="401549" lvl="1" indent="-200774" algn="l">
              <a:lnSpc>
                <a:spcPts val="2603"/>
              </a:lnSpc>
              <a:buFont typeface="Arial"/>
              <a:buChar char="•"/>
            </a:pPr>
            <a:r>
              <a:rPr lang="en-US" sz="1859" b="1">
                <a:solidFill>
                  <a:srgbClr val="FFFFFF"/>
                </a:solidFill>
                <a:latin typeface="Garet Bold"/>
                <a:ea typeface="Garet Bold"/>
                <a:cs typeface="Garet Bold"/>
                <a:sym typeface="Garet Bold"/>
              </a:rPr>
              <a:t>Translation Matrix:</a:t>
            </a:r>
            <a:r>
              <a:rPr lang="en-US" sz="1859">
                <a:solidFill>
                  <a:srgbClr val="FFFFFF"/>
                </a:solidFill>
                <a:latin typeface="Garet"/>
                <a:ea typeface="Garet"/>
                <a:cs typeface="Garet"/>
                <a:sym typeface="Garet"/>
              </a:rPr>
              <a:t> Applied to position planets at specific Euclidean distances from the sun, accurately representing orbital radii. This moves the object from the global origin to its specific orbit path.</a:t>
            </a:r>
          </a:p>
          <a:p>
            <a:pPr marL="401549" lvl="1" indent="-200774" algn="l">
              <a:lnSpc>
                <a:spcPts val="2603"/>
              </a:lnSpc>
              <a:buFont typeface="Arial"/>
              <a:buChar char="•"/>
            </a:pPr>
            <a:r>
              <a:rPr lang="en-US" sz="1859" b="1">
                <a:solidFill>
                  <a:srgbClr val="FFFFFF"/>
                </a:solidFill>
                <a:latin typeface="Garet Bold"/>
                <a:ea typeface="Garet Bold"/>
                <a:cs typeface="Garet Bold"/>
                <a:sym typeface="Garet Bold"/>
              </a:rPr>
              <a:t>Rotation (Self):</a:t>
            </a:r>
            <a:r>
              <a:rPr lang="en-US" sz="1859">
                <a:solidFill>
                  <a:srgbClr val="FFFFFF"/>
                </a:solidFill>
                <a:latin typeface="Garet"/>
                <a:ea typeface="Garet"/>
                <a:cs typeface="Garet"/>
                <a:sym typeface="Garet"/>
              </a:rPr>
              <a:t> Simulating the day/night cycle of planets rotating on their local Y-axis, demonstrating angular momentum.</a:t>
            </a:r>
          </a:p>
          <a:p>
            <a:pPr marL="401549" lvl="1" indent="-200774" algn="l">
              <a:lnSpc>
                <a:spcPts val="2603"/>
              </a:lnSpc>
              <a:buFont typeface="Arial"/>
              <a:buChar char="•"/>
            </a:pPr>
            <a:r>
              <a:rPr lang="en-US" sz="1859" b="1">
                <a:solidFill>
                  <a:srgbClr val="FFFFFF"/>
                </a:solidFill>
                <a:latin typeface="Garet Bold"/>
                <a:ea typeface="Garet Bold"/>
                <a:cs typeface="Garet Bold"/>
                <a:sym typeface="Garet Bold"/>
              </a:rPr>
              <a:t>Rotation (Orbital):</a:t>
            </a:r>
            <a:r>
              <a:rPr lang="en-US" sz="1859">
                <a:solidFill>
                  <a:srgbClr val="FFFFFF"/>
                </a:solidFill>
                <a:latin typeface="Garet"/>
                <a:ea typeface="Garet"/>
                <a:cs typeface="Garet"/>
                <a:sym typeface="Garet"/>
              </a:rPr>
              <a:t> Simulating the yearly orbit of planets around the sun.</a:t>
            </a:r>
          </a:p>
          <a:p>
            <a:pPr algn="l">
              <a:lnSpc>
                <a:spcPts val="2603"/>
              </a:lnSpc>
              <a:spcBef>
                <a:spcPct val="0"/>
              </a:spcBef>
            </a:pPr>
            <a:endParaRPr lang="en-US" sz="1859">
              <a:solidFill>
                <a:srgbClr val="FFFFFF"/>
              </a:solidFill>
              <a:latin typeface="Garet"/>
              <a:ea typeface="Garet"/>
              <a:cs typeface="Garet"/>
              <a:sym typeface="Garet"/>
            </a:endParaRPr>
          </a:p>
        </p:txBody>
      </p:sp>
      <p:grpSp>
        <p:nvGrpSpPr>
          <p:cNvPr id="14" name="Group 14"/>
          <p:cNvGrpSpPr>
            <a:grpSpLocks noChangeAspect="1"/>
          </p:cNvGrpSpPr>
          <p:nvPr/>
        </p:nvGrpSpPr>
        <p:grpSpPr>
          <a:xfrm>
            <a:off x="12288550" y="4914206"/>
            <a:ext cx="4233219" cy="4233219"/>
            <a:chOff x="0" y="0"/>
            <a:chExt cx="14840029" cy="14840029"/>
          </a:xfrm>
        </p:grpSpPr>
        <p:sp>
          <p:nvSpPr>
            <p:cNvPr id="15" name="Freeform 15"/>
            <p:cNvSpPr/>
            <p:nvPr/>
          </p:nvSpPr>
          <p:spPr>
            <a:xfrm>
              <a:off x="-33258" y="-75"/>
              <a:ext cx="14906544" cy="14840178"/>
            </a:xfrm>
            <a:custGeom>
              <a:avLst/>
              <a:gdLst/>
              <a:ahLst/>
              <a:cxnLst/>
              <a:rect l="l" t="t" r="r" b="b"/>
              <a:pathLst>
                <a:path w="14906544" h="14840178">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1">
              <a:gsLst>
                <a:gs pos="0">
                  <a:srgbClr val="515269">
                    <a:alpha val="100000"/>
                  </a:srgbClr>
                </a:gs>
                <a:gs pos="100000">
                  <a:srgbClr val="00012E">
                    <a:alpha val="0"/>
                  </a:srgbClr>
                </a:gs>
              </a:gsLst>
              <a:lin ang="0"/>
            </a:gradFill>
          </p:spPr>
          <p:txBody>
            <a:bodyPr/>
            <a:lstStyle/>
            <a:p>
              <a:endParaRPr lang="ar-EG"/>
            </a:p>
          </p:txBody>
        </p:sp>
        <p:sp>
          <p:nvSpPr>
            <p:cNvPr id="16" name="Freeform 16"/>
            <p:cNvSpPr/>
            <p:nvPr/>
          </p:nvSpPr>
          <p:spPr>
            <a:xfrm>
              <a:off x="168022" y="200309"/>
              <a:ext cx="14503985" cy="14439411"/>
            </a:xfrm>
            <a:custGeom>
              <a:avLst/>
              <a:gdLst/>
              <a:ahLst/>
              <a:cxnLst/>
              <a:rect l="l" t="t" r="r" b="b"/>
              <a:pathLst>
                <a:path w="14503985" h="14439411">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txBody>
            <a:bodyPr/>
            <a:lstStyle/>
            <a:p>
              <a:endParaRPr lang="ar-EG"/>
            </a:p>
          </p:txBody>
        </p:sp>
        <p:sp>
          <p:nvSpPr>
            <p:cNvPr id="17" name="Freeform 17"/>
            <p:cNvSpPr/>
            <p:nvPr/>
          </p:nvSpPr>
          <p:spPr>
            <a:xfrm>
              <a:off x="531276" y="561946"/>
              <a:ext cx="13777477" cy="13716137"/>
            </a:xfrm>
            <a:custGeom>
              <a:avLst/>
              <a:gdLst/>
              <a:ahLst/>
              <a:cxnLst/>
              <a:rect l="l" t="t" r="r" b="b"/>
              <a:pathLst>
                <a:path w="13777477" h="1371613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6"/>
              <a:stretch>
                <a:fillRect l="-24712" r="-24712"/>
              </a:stretch>
            </a:blipFill>
          </p:spPr>
          <p:txBody>
            <a:bodyPr/>
            <a:lstStyle/>
            <a:p>
              <a:endParaRPr lang="ar-EG"/>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444" b="-6444"/>
            </a:stretch>
          </a:blipFill>
        </p:spPr>
        <p:txBody>
          <a:bodyPr/>
          <a:lstStyle/>
          <a:p>
            <a:endParaRPr lang="ar-EG"/>
          </a:p>
        </p:txBody>
      </p:sp>
      <p:sp>
        <p:nvSpPr>
          <p:cNvPr id="3" name="Freeform 3"/>
          <p:cNvSpPr/>
          <p:nvPr/>
        </p:nvSpPr>
        <p:spPr>
          <a:xfrm>
            <a:off x="-2508512" y="2751132"/>
            <a:ext cx="6161913" cy="8229600"/>
          </a:xfrm>
          <a:custGeom>
            <a:avLst/>
            <a:gdLst/>
            <a:ahLst/>
            <a:cxnLst/>
            <a:rect l="l" t="t" r="r" b="b"/>
            <a:pathLst>
              <a:path w="6161913" h="8229600">
                <a:moveTo>
                  <a:pt x="0" y="0"/>
                </a:moveTo>
                <a:lnTo>
                  <a:pt x="6161913" y="0"/>
                </a:lnTo>
                <a:lnTo>
                  <a:pt x="6161913" y="8229600"/>
                </a:lnTo>
                <a:lnTo>
                  <a:pt x="0" y="8229600"/>
                </a:lnTo>
                <a:lnTo>
                  <a:pt x="0" y="0"/>
                </a:lnTo>
                <a:close/>
              </a:path>
            </a:pathLst>
          </a:custGeom>
          <a:blipFill>
            <a:blip r:embed="rId3">
              <a:alphaModFix amt="25000"/>
            </a:blip>
            <a:stretch>
              <a:fillRect/>
            </a:stretch>
          </a:blipFill>
        </p:spPr>
        <p:txBody>
          <a:bodyPr/>
          <a:lstStyle/>
          <a:p>
            <a:endParaRPr lang="ar-EG"/>
          </a:p>
        </p:txBody>
      </p:sp>
      <p:sp>
        <p:nvSpPr>
          <p:cNvPr id="4" name="Freeform 4"/>
          <p:cNvSpPr/>
          <p:nvPr/>
        </p:nvSpPr>
        <p:spPr>
          <a:xfrm>
            <a:off x="806000" y="746593"/>
            <a:ext cx="445400" cy="412198"/>
          </a:xfrm>
          <a:custGeom>
            <a:avLst/>
            <a:gdLst/>
            <a:ahLst/>
            <a:cxnLst/>
            <a:rect l="l" t="t" r="r" b="b"/>
            <a:pathLst>
              <a:path w="445400" h="412198">
                <a:moveTo>
                  <a:pt x="0" y="0"/>
                </a:moveTo>
                <a:lnTo>
                  <a:pt x="445400" y="0"/>
                </a:lnTo>
                <a:lnTo>
                  <a:pt x="445400" y="412197"/>
                </a:lnTo>
                <a:lnTo>
                  <a:pt x="0" y="4121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5" name="Freeform 5"/>
          <p:cNvSpPr/>
          <p:nvPr/>
        </p:nvSpPr>
        <p:spPr>
          <a:xfrm>
            <a:off x="13781763" y="-5348"/>
            <a:ext cx="6161913" cy="8229600"/>
          </a:xfrm>
          <a:custGeom>
            <a:avLst/>
            <a:gdLst/>
            <a:ahLst/>
            <a:cxnLst/>
            <a:rect l="l" t="t" r="r" b="b"/>
            <a:pathLst>
              <a:path w="6161913" h="8229600">
                <a:moveTo>
                  <a:pt x="0" y="0"/>
                </a:moveTo>
                <a:lnTo>
                  <a:pt x="6161913" y="0"/>
                </a:lnTo>
                <a:lnTo>
                  <a:pt x="6161913" y="8229600"/>
                </a:lnTo>
                <a:lnTo>
                  <a:pt x="0" y="8229600"/>
                </a:lnTo>
                <a:lnTo>
                  <a:pt x="0" y="0"/>
                </a:lnTo>
                <a:close/>
              </a:path>
            </a:pathLst>
          </a:custGeom>
          <a:blipFill>
            <a:blip r:embed="rId3">
              <a:alphaModFix amt="25000"/>
            </a:blip>
            <a:stretch>
              <a:fillRect/>
            </a:stretch>
          </a:blipFill>
        </p:spPr>
        <p:txBody>
          <a:bodyPr/>
          <a:lstStyle/>
          <a:p>
            <a:endParaRPr lang="ar-EG"/>
          </a:p>
        </p:txBody>
      </p:sp>
      <p:grpSp>
        <p:nvGrpSpPr>
          <p:cNvPr id="6" name="Group 6"/>
          <p:cNvGrpSpPr>
            <a:grpSpLocks noChangeAspect="1"/>
          </p:cNvGrpSpPr>
          <p:nvPr/>
        </p:nvGrpSpPr>
        <p:grpSpPr>
          <a:xfrm>
            <a:off x="1028700" y="2453863"/>
            <a:ext cx="5373129" cy="5373129"/>
            <a:chOff x="0" y="0"/>
            <a:chExt cx="14840029" cy="14840029"/>
          </a:xfrm>
        </p:grpSpPr>
        <p:sp>
          <p:nvSpPr>
            <p:cNvPr id="7" name="Freeform 7"/>
            <p:cNvSpPr/>
            <p:nvPr/>
          </p:nvSpPr>
          <p:spPr>
            <a:xfrm>
              <a:off x="-33258" y="-75"/>
              <a:ext cx="14906544" cy="14840178"/>
            </a:xfrm>
            <a:custGeom>
              <a:avLst/>
              <a:gdLst/>
              <a:ahLst/>
              <a:cxnLst/>
              <a:rect l="l" t="t" r="r" b="b"/>
              <a:pathLst>
                <a:path w="14906544" h="14840178">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1">
              <a:gsLst>
                <a:gs pos="0">
                  <a:srgbClr val="515269">
                    <a:alpha val="100000"/>
                  </a:srgbClr>
                </a:gs>
                <a:gs pos="100000">
                  <a:srgbClr val="00012E">
                    <a:alpha val="0"/>
                  </a:srgbClr>
                </a:gs>
              </a:gsLst>
              <a:lin ang="0"/>
            </a:gradFill>
          </p:spPr>
          <p:txBody>
            <a:bodyPr/>
            <a:lstStyle/>
            <a:p>
              <a:endParaRPr lang="ar-EG"/>
            </a:p>
          </p:txBody>
        </p:sp>
        <p:sp>
          <p:nvSpPr>
            <p:cNvPr id="8" name="Freeform 8"/>
            <p:cNvSpPr/>
            <p:nvPr/>
          </p:nvSpPr>
          <p:spPr>
            <a:xfrm>
              <a:off x="168022" y="200309"/>
              <a:ext cx="14503985" cy="14439411"/>
            </a:xfrm>
            <a:custGeom>
              <a:avLst/>
              <a:gdLst/>
              <a:ahLst/>
              <a:cxnLst/>
              <a:rect l="l" t="t" r="r" b="b"/>
              <a:pathLst>
                <a:path w="14503985" h="14439411">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txBody>
            <a:bodyPr/>
            <a:lstStyle/>
            <a:p>
              <a:endParaRPr lang="ar-EG"/>
            </a:p>
          </p:txBody>
        </p:sp>
        <p:sp>
          <p:nvSpPr>
            <p:cNvPr id="9" name="Freeform 9"/>
            <p:cNvSpPr/>
            <p:nvPr/>
          </p:nvSpPr>
          <p:spPr>
            <a:xfrm>
              <a:off x="531276" y="561946"/>
              <a:ext cx="13777477" cy="13716137"/>
            </a:xfrm>
            <a:custGeom>
              <a:avLst/>
              <a:gdLst/>
              <a:ahLst/>
              <a:cxnLst/>
              <a:rect l="l" t="t" r="r" b="b"/>
              <a:pathLst>
                <a:path w="13777477" h="1371613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5"/>
              <a:stretch>
                <a:fillRect l="223" t="-62" r="223" b="-62"/>
              </a:stretch>
            </a:blipFill>
          </p:spPr>
          <p:txBody>
            <a:bodyPr/>
            <a:lstStyle/>
            <a:p>
              <a:endParaRPr lang="ar-EG"/>
            </a:p>
          </p:txBody>
        </p:sp>
      </p:grpSp>
      <p:sp>
        <p:nvSpPr>
          <p:cNvPr id="10" name="TextBox 10"/>
          <p:cNvSpPr txBox="1"/>
          <p:nvPr/>
        </p:nvSpPr>
        <p:spPr>
          <a:xfrm>
            <a:off x="7450601" y="1263565"/>
            <a:ext cx="7309463" cy="2112320"/>
          </a:xfrm>
          <a:prstGeom prst="rect">
            <a:avLst/>
          </a:prstGeom>
        </p:spPr>
        <p:txBody>
          <a:bodyPr lIns="0" tIns="0" rIns="0" bIns="0" rtlCol="0" anchor="t">
            <a:spAutoFit/>
          </a:bodyPr>
          <a:lstStyle/>
          <a:p>
            <a:pPr algn="l">
              <a:lnSpc>
                <a:spcPts val="7348"/>
              </a:lnSpc>
            </a:pPr>
            <a:r>
              <a:rPr lang="en-US" sz="8446" b="1">
                <a:solidFill>
                  <a:srgbClr val="FFFFFF"/>
                </a:solidFill>
                <a:latin typeface="Akzidenz-Grotesk Bold"/>
                <a:ea typeface="Akzidenz-Grotesk Bold"/>
                <a:cs typeface="Akzidenz-Grotesk Bold"/>
                <a:sym typeface="Akzidenz-Grotesk Bold"/>
              </a:rPr>
              <a:t>Lighting and Materials</a:t>
            </a:r>
          </a:p>
        </p:txBody>
      </p:sp>
      <p:sp>
        <p:nvSpPr>
          <p:cNvPr id="11" name="TextBox 11"/>
          <p:cNvSpPr txBox="1"/>
          <p:nvPr/>
        </p:nvSpPr>
        <p:spPr>
          <a:xfrm>
            <a:off x="1594519" y="813076"/>
            <a:ext cx="2294398" cy="298262"/>
          </a:xfrm>
          <a:prstGeom prst="rect">
            <a:avLst/>
          </a:prstGeom>
        </p:spPr>
        <p:txBody>
          <a:bodyPr lIns="0" tIns="0" rIns="0" bIns="0" rtlCol="0" anchor="t">
            <a:spAutoFit/>
          </a:bodyPr>
          <a:lstStyle/>
          <a:p>
            <a:pPr algn="l">
              <a:lnSpc>
                <a:spcPts val="2460"/>
              </a:lnSpc>
              <a:spcBef>
                <a:spcPct val="0"/>
              </a:spcBef>
            </a:pPr>
            <a:r>
              <a:rPr lang="en-US" sz="1757">
                <a:solidFill>
                  <a:srgbClr val="FFFFFF"/>
                </a:solidFill>
                <a:latin typeface="Garet"/>
                <a:ea typeface="Garet"/>
                <a:cs typeface="Garet"/>
                <a:sym typeface="Garet"/>
              </a:rPr>
              <a:t>Graphics Concepts </a:t>
            </a:r>
          </a:p>
        </p:txBody>
      </p:sp>
      <p:sp>
        <p:nvSpPr>
          <p:cNvPr id="12" name="TextBox 12"/>
          <p:cNvSpPr txBox="1"/>
          <p:nvPr/>
        </p:nvSpPr>
        <p:spPr>
          <a:xfrm>
            <a:off x="790001" y="9083964"/>
            <a:ext cx="1303798" cy="298281"/>
          </a:xfrm>
          <a:prstGeom prst="rect">
            <a:avLst/>
          </a:prstGeom>
        </p:spPr>
        <p:txBody>
          <a:bodyPr lIns="0" tIns="0" rIns="0" bIns="0" rtlCol="0" anchor="t">
            <a:spAutoFit/>
          </a:bodyPr>
          <a:lstStyle/>
          <a:p>
            <a:pPr algn="l">
              <a:lnSpc>
                <a:spcPts val="2460"/>
              </a:lnSpc>
              <a:spcBef>
                <a:spcPct val="0"/>
              </a:spcBef>
            </a:pPr>
            <a:r>
              <a:rPr lang="en-US" sz="1757">
                <a:solidFill>
                  <a:srgbClr val="FFFFFF"/>
                </a:solidFill>
                <a:latin typeface="Garet"/>
                <a:ea typeface="Garet"/>
                <a:cs typeface="Garet"/>
                <a:sym typeface="Garet"/>
              </a:rPr>
              <a:t>PAGE 05</a:t>
            </a:r>
          </a:p>
        </p:txBody>
      </p:sp>
      <p:sp>
        <p:nvSpPr>
          <p:cNvPr id="13" name="Freeform 13"/>
          <p:cNvSpPr/>
          <p:nvPr/>
        </p:nvSpPr>
        <p:spPr>
          <a:xfrm>
            <a:off x="7450601" y="3626553"/>
            <a:ext cx="557998" cy="516401"/>
          </a:xfrm>
          <a:custGeom>
            <a:avLst/>
            <a:gdLst/>
            <a:ahLst/>
            <a:cxnLst/>
            <a:rect l="l" t="t" r="r" b="b"/>
            <a:pathLst>
              <a:path w="557998" h="516401">
                <a:moveTo>
                  <a:pt x="0" y="0"/>
                </a:moveTo>
                <a:lnTo>
                  <a:pt x="557998" y="0"/>
                </a:lnTo>
                <a:lnTo>
                  <a:pt x="557998" y="516401"/>
                </a:lnTo>
                <a:lnTo>
                  <a:pt x="0" y="5164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14" name="TextBox 14"/>
          <p:cNvSpPr txBox="1"/>
          <p:nvPr/>
        </p:nvSpPr>
        <p:spPr>
          <a:xfrm>
            <a:off x="8130754" y="3584293"/>
            <a:ext cx="7753791" cy="1517462"/>
          </a:xfrm>
          <a:prstGeom prst="rect">
            <a:avLst/>
          </a:prstGeom>
        </p:spPr>
        <p:txBody>
          <a:bodyPr lIns="0" tIns="0" rIns="0" bIns="0" rtlCol="0" anchor="t">
            <a:spAutoFit/>
          </a:bodyPr>
          <a:lstStyle/>
          <a:p>
            <a:pPr algn="l">
              <a:lnSpc>
                <a:spcPts val="2460"/>
              </a:lnSpc>
              <a:spcBef>
                <a:spcPct val="0"/>
              </a:spcBef>
            </a:pPr>
            <a:r>
              <a:rPr lang="en-US" sz="1757">
                <a:solidFill>
                  <a:srgbClr val="FFFFFF"/>
                </a:solidFill>
                <a:latin typeface="Garet"/>
                <a:ea typeface="Garet"/>
                <a:cs typeface="Garet"/>
                <a:sym typeface="Garet"/>
              </a:rPr>
              <a:t>Perception of 3D Shapes: Lighting is the most powerful tool for tricking the brain into perceiving 3D volume on a 2D screen. The interplay of shadows and highlights provides the necessary visual cues to understand a planet's curvature.</a:t>
            </a:r>
          </a:p>
          <a:p>
            <a:pPr algn="l">
              <a:lnSpc>
                <a:spcPts val="2460"/>
              </a:lnSpc>
              <a:spcBef>
                <a:spcPct val="0"/>
              </a:spcBef>
            </a:pPr>
            <a:endParaRPr lang="en-US" sz="1757">
              <a:solidFill>
                <a:srgbClr val="FFFFFF"/>
              </a:solidFill>
              <a:latin typeface="Garet"/>
              <a:ea typeface="Garet"/>
              <a:cs typeface="Garet"/>
              <a:sym typeface="Garet"/>
            </a:endParaRPr>
          </a:p>
        </p:txBody>
      </p:sp>
      <p:sp>
        <p:nvSpPr>
          <p:cNvPr id="15" name="Freeform 15"/>
          <p:cNvSpPr/>
          <p:nvPr/>
        </p:nvSpPr>
        <p:spPr>
          <a:xfrm>
            <a:off x="7450601" y="4998149"/>
            <a:ext cx="557998" cy="516401"/>
          </a:xfrm>
          <a:custGeom>
            <a:avLst/>
            <a:gdLst/>
            <a:ahLst/>
            <a:cxnLst/>
            <a:rect l="l" t="t" r="r" b="b"/>
            <a:pathLst>
              <a:path w="557998" h="516401">
                <a:moveTo>
                  <a:pt x="0" y="0"/>
                </a:moveTo>
                <a:lnTo>
                  <a:pt x="557998" y="0"/>
                </a:lnTo>
                <a:lnTo>
                  <a:pt x="557998" y="516401"/>
                </a:lnTo>
                <a:lnTo>
                  <a:pt x="0" y="5164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16" name="TextBox 16"/>
          <p:cNvSpPr txBox="1"/>
          <p:nvPr/>
        </p:nvSpPr>
        <p:spPr>
          <a:xfrm>
            <a:off x="8130754" y="5054131"/>
            <a:ext cx="4936268" cy="356812"/>
          </a:xfrm>
          <a:prstGeom prst="rect">
            <a:avLst/>
          </a:prstGeom>
        </p:spPr>
        <p:txBody>
          <a:bodyPr lIns="0" tIns="0" rIns="0" bIns="0" rtlCol="0" anchor="t">
            <a:spAutoFit/>
          </a:bodyPr>
          <a:lstStyle/>
          <a:p>
            <a:pPr algn="l">
              <a:lnSpc>
                <a:spcPts val="2908"/>
              </a:lnSpc>
              <a:spcBef>
                <a:spcPct val="0"/>
              </a:spcBef>
            </a:pPr>
            <a:r>
              <a:rPr lang="en-US" sz="2077" b="1">
                <a:solidFill>
                  <a:srgbClr val="FFFFFF"/>
                </a:solidFill>
                <a:latin typeface="Garet Bold"/>
                <a:ea typeface="Garet Bold"/>
                <a:cs typeface="Garet Bold"/>
                <a:sym typeface="Garet Bold"/>
              </a:rPr>
              <a:t>The Phong Reflection Model:</a:t>
            </a:r>
          </a:p>
        </p:txBody>
      </p:sp>
      <p:sp>
        <p:nvSpPr>
          <p:cNvPr id="17" name="TextBox 17"/>
          <p:cNvSpPr txBox="1"/>
          <p:nvPr/>
        </p:nvSpPr>
        <p:spPr>
          <a:xfrm>
            <a:off x="8130754" y="5601092"/>
            <a:ext cx="7310946" cy="3651062"/>
          </a:xfrm>
          <a:prstGeom prst="rect">
            <a:avLst/>
          </a:prstGeom>
        </p:spPr>
        <p:txBody>
          <a:bodyPr lIns="0" tIns="0" rIns="0" bIns="0" rtlCol="0" anchor="t">
            <a:spAutoFit/>
          </a:bodyPr>
          <a:lstStyle/>
          <a:p>
            <a:pPr marL="379421" lvl="1" indent="-189711" algn="l">
              <a:lnSpc>
                <a:spcPts val="2460"/>
              </a:lnSpc>
              <a:buFont typeface="Arial"/>
              <a:buChar char="•"/>
            </a:pPr>
            <a:r>
              <a:rPr lang="en-US" sz="1757" b="1">
                <a:solidFill>
                  <a:srgbClr val="FFFFFF"/>
                </a:solidFill>
                <a:latin typeface="Garet Bold"/>
                <a:ea typeface="Garet Bold"/>
                <a:cs typeface="Garet Bold"/>
                <a:sym typeface="Garet Bold"/>
              </a:rPr>
              <a:t>Ambient Light:</a:t>
            </a:r>
            <a:r>
              <a:rPr lang="en-US" sz="1757">
                <a:solidFill>
                  <a:srgbClr val="FFFFFF"/>
                </a:solidFill>
                <a:latin typeface="Garet"/>
                <a:ea typeface="Garet"/>
                <a:cs typeface="Garet"/>
                <a:sym typeface="Garet"/>
              </a:rPr>
              <a:t> A low-level base light ensuring the dark sides of planets aren't pitch black, simulating light scattering in space.</a:t>
            </a:r>
          </a:p>
          <a:p>
            <a:pPr marL="379421" lvl="1" indent="-189711" algn="l">
              <a:lnSpc>
                <a:spcPts val="2460"/>
              </a:lnSpc>
              <a:buFont typeface="Arial"/>
              <a:buChar char="•"/>
            </a:pPr>
            <a:r>
              <a:rPr lang="en-US" sz="1757" b="1">
                <a:solidFill>
                  <a:srgbClr val="FFFFFF"/>
                </a:solidFill>
                <a:latin typeface="Garet Bold"/>
                <a:ea typeface="Garet Bold"/>
                <a:cs typeface="Garet Bold"/>
                <a:sym typeface="Garet Bold"/>
              </a:rPr>
              <a:t>Diffuse Light:</a:t>
            </a:r>
            <a:r>
              <a:rPr lang="en-US" sz="1757">
                <a:solidFill>
                  <a:srgbClr val="FFFFFF"/>
                </a:solidFill>
                <a:latin typeface="Garet"/>
                <a:ea typeface="Garet"/>
                <a:cs typeface="Garet"/>
                <a:sym typeface="Garet"/>
              </a:rPr>
              <a:t> Directional light that scatters upon hitting a surface. This creates the primary shading and the "terminator line" (the line between day and night on a planet) based on the surface normal vectors.</a:t>
            </a:r>
          </a:p>
          <a:p>
            <a:pPr marL="379421" lvl="1" indent="-189711" algn="l">
              <a:lnSpc>
                <a:spcPts val="2460"/>
              </a:lnSpc>
              <a:spcBef>
                <a:spcPct val="0"/>
              </a:spcBef>
              <a:buFont typeface="Arial"/>
              <a:buChar char="•"/>
            </a:pPr>
            <a:r>
              <a:rPr lang="en-US" sz="1757" b="1">
                <a:solidFill>
                  <a:srgbClr val="FFFFFF"/>
                </a:solidFill>
                <a:latin typeface="Garet Bold"/>
                <a:ea typeface="Garet Bold"/>
                <a:cs typeface="Garet Bold"/>
                <a:sym typeface="Garet Bold"/>
              </a:rPr>
              <a:t>Specular Light:</a:t>
            </a:r>
            <a:r>
              <a:rPr lang="en-US" sz="1757">
                <a:solidFill>
                  <a:srgbClr val="FFFFFF"/>
                </a:solidFill>
                <a:latin typeface="Garet"/>
                <a:ea typeface="Garet"/>
                <a:cs typeface="Garet"/>
                <a:sym typeface="Garet"/>
              </a:rPr>
              <a:t> The bright highlight or reflection. We configured material properties so rocky planets (Earth, Mars) have low shininess, while water or gas giants may have different reflective properties.</a:t>
            </a:r>
          </a:p>
          <a:p>
            <a:pPr algn="l">
              <a:lnSpc>
                <a:spcPts val="2460"/>
              </a:lnSpc>
              <a:spcBef>
                <a:spcPct val="0"/>
              </a:spcBef>
            </a:pPr>
            <a:endParaRPr lang="en-US" sz="1757">
              <a:solidFill>
                <a:srgbClr val="FFFFFF"/>
              </a:solidFill>
              <a:latin typeface="Garet"/>
              <a:ea typeface="Garet"/>
              <a:cs typeface="Garet"/>
              <a:sym typeface="Garet"/>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444" b="-6444"/>
            </a:stretch>
          </a:blipFill>
        </p:spPr>
        <p:txBody>
          <a:bodyPr/>
          <a:lstStyle/>
          <a:p>
            <a:endParaRPr lang="ar-EG"/>
          </a:p>
        </p:txBody>
      </p:sp>
      <p:grpSp>
        <p:nvGrpSpPr>
          <p:cNvPr id="3" name="Group 3"/>
          <p:cNvGrpSpPr/>
          <p:nvPr/>
        </p:nvGrpSpPr>
        <p:grpSpPr>
          <a:xfrm>
            <a:off x="572445" y="4160180"/>
            <a:ext cx="17304458" cy="3548724"/>
            <a:chOff x="0" y="0"/>
            <a:chExt cx="4945232" cy="1014147"/>
          </a:xfrm>
        </p:grpSpPr>
        <p:sp>
          <p:nvSpPr>
            <p:cNvPr id="4" name="Freeform 4"/>
            <p:cNvSpPr/>
            <p:nvPr/>
          </p:nvSpPr>
          <p:spPr>
            <a:xfrm>
              <a:off x="0" y="0"/>
              <a:ext cx="4945231" cy="1014147"/>
            </a:xfrm>
            <a:custGeom>
              <a:avLst/>
              <a:gdLst/>
              <a:ahLst/>
              <a:cxnLst/>
              <a:rect l="l" t="t" r="r" b="b"/>
              <a:pathLst>
                <a:path w="4945231" h="1014147">
                  <a:moveTo>
                    <a:pt x="0" y="0"/>
                  </a:moveTo>
                  <a:lnTo>
                    <a:pt x="4945231" y="0"/>
                  </a:lnTo>
                  <a:lnTo>
                    <a:pt x="4945231" y="1014147"/>
                  </a:lnTo>
                  <a:lnTo>
                    <a:pt x="0" y="1014147"/>
                  </a:lnTo>
                  <a:close/>
                </a:path>
              </a:pathLst>
            </a:custGeom>
            <a:ln w="19050" cap="sq">
              <a:solidFill>
                <a:srgbClr val="FFFFFF"/>
              </a:solidFill>
              <a:prstDash val="solid"/>
              <a:miter/>
            </a:ln>
          </p:spPr>
          <p:txBody>
            <a:bodyPr/>
            <a:lstStyle/>
            <a:p>
              <a:endParaRPr lang="ar-EG"/>
            </a:p>
          </p:txBody>
        </p:sp>
        <p:sp>
          <p:nvSpPr>
            <p:cNvPr id="5" name="TextBox 5"/>
            <p:cNvSpPr txBox="1"/>
            <p:nvPr/>
          </p:nvSpPr>
          <p:spPr>
            <a:xfrm>
              <a:off x="0" y="28575"/>
              <a:ext cx="4945232" cy="985572"/>
            </a:xfrm>
            <a:prstGeom prst="rect">
              <a:avLst/>
            </a:prstGeom>
          </p:spPr>
          <p:txBody>
            <a:bodyPr lIns="50800" tIns="50800" rIns="50800" bIns="50800" rtlCol="0" anchor="ctr"/>
            <a:lstStyle/>
            <a:p>
              <a:pPr algn="ctr">
                <a:lnSpc>
                  <a:spcPts val="2181"/>
                </a:lnSpc>
              </a:pPr>
              <a:endParaRPr/>
            </a:p>
          </p:txBody>
        </p:sp>
      </p:grpSp>
      <p:sp>
        <p:nvSpPr>
          <p:cNvPr id="6" name="Freeform 6"/>
          <p:cNvSpPr/>
          <p:nvPr/>
        </p:nvSpPr>
        <p:spPr>
          <a:xfrm>
            <a:off x="-2508512" y="2751132"/>
            <a:ext cx="6161913" cy="8229600"/>
          </a:xfrm>
          <a:custGeom>
            <a:avLst/>
            <a:gdLst/>
            <a:ahLst/>
            <a:cxnLst/>
            <a:rect l="l" t="t" r="r" b="b"/>
            <a:pathLst>
              <a:path w="6161913" h="8229600">
                <a:moveTo>
                  <a:pt x="0" y="0"/>
                </a:moveTo>
                <a:lnTo>
                  <a:pt x="6161913" y="0"/>
                </a:lnTo>
                <a:lnTo>
                  <a:pt x="6161913" y="8229600"/>
                </a:lnTo>
                <a:lnTo>
                  <a:pt x="0" y="8229600"/>
                </a:lnTo>
                <a:lnTo>
                  <a:pt x="0" y="0"/>
                </a:lnTo>
                <a:close/>
              </a:path>
            </a:pathLst>
          </a:custGeom>
          <a:blipFill>
            <a:blip r:embed="rId3">
              <a:alphaModFix amt="25000"/>
            </a:blip>
            <a:stretch>
              <a:fillRect/>
            </a:stretch>
          </a:blipFill>
        </p:spPr>
        <p:txBody>
          <a:bodyPr/>
          <a:lstStyle/>
          <a:p>
            <a:endParaRPr lang="ar-EG"/>
          </a:p>
        </p:txBody>
      </p:sp>
      <p:sp>
        <p:nvSpPr>
          <p:cNvPr id="7" name="Freeform 7"/>
          <p:cNvSpPr/>
          <p:nvPr/>
        </p:nvSpPr>
        <p:spPr>
          <a:xfrm>
            <a:off x="806000" y="746593"/>
            <a:ext cx="445400" cy="412198"/>
          </a:xfrm>
          <a:custGeom>
            <a:avLst/>
            <a:gdLst/>
            <a:ahLst/>
            <a:cxnLst/>
            <a:rect l="l" t="t" r="r" b="b"/>
            <a:pathLst>
              <a:path w="445400" h="412198">
                <a:moveTo>
                  <a:pt x="0" y="0"/>
                </a:moveTo>
                <a:lnTo>
                  <a:pt x="445400" y="0"/>
                </a:lnTo>
                <a:lnTo>
                  <a:pt x="445400" y="412197"/>
                </a:lnTo>
                <a:lnTo>
                  <a:pt x="0" y="4121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8" name="TextBox 8"/>
          <p:cNvSpPr txBox="1"/>
          <p:nvPr/>
        </p:nvSpPr>
        <p:spPr>
          <a:xfrm>
            <a:off x="3536175" y="1926644"/>
            <a:ext cx="11651196" cy="1180775"/>
          </a:xfrm>
          <a:prstGeom prst="rect">
            <a:avLst/>
          </a:prstGeom>
        </p:spPr>
        <p:txBody>
          <a:bodyPr lIns="0" tIns="0" rIns="0" bIns="0" rtlCol="0" anchor="t">
            <a:spAutoFit/>
          </a:bodyPr>
          <a:lstStyle/>
          <a:p>
            <a:pPr algn="ctr">
              <a:lnSpc>
                <a:spcPts val="7348"/>
              </a:lnSpc>
            </a:pPr>
            <a:r>
              <a:rPr lang="en-US" sz="8446" b="1">
                <a:solidFill>
                  <a:srgbClr val="FFFFFF"/>
                </a:solidFill>
                <a:latin typeface="Akzidenz-Grotesk Bold"/>
                <a:ea typeface="Akzidenz-Grotesk Bold"/>
                <a:cs typeface="Akzidenz-Grotesk Bold"/>
                <a:sym typeface="Akzidenz-Grotesk Bold"/>
              </a:rPr>
              <a:t>Textures and Mapping</a:t>
            </a:r>
          </a:p>
        </p:txBody>
      </p:sp>
      <p:sp>
        <p:nvSpPr>
          <p:cNvPr id="9" name="TextBox 9"/>
          <p:cNvSpPr txBox="1"/>
          <p:nvPr/>
        </p:nvSpPr>
        <p:spPr>
          <a:xfrm>
            <a:off x="1594519" y="813076"/>
            <a:ext cx="2294398" cy="298262"/>
          </a:xfrm>
          <a:prstGeom prst="rect">
            <a:avLst/>
          </a:prstGeom>
        </p:spPr>
        <p:txBody>
          <a:bodyPr lIns="0" tIns="0" rIns="0" bIns="0" rtlCol="0" anchor="t">
            <a:spAutoFit/>
          </a:bodyPr>
          <a:lstStyle/>
          <a:p>
            <a:pPr algn="l">
              <a:lnSpc>
                <a:spcPts val="2460"/>
              </a:lnSpc>
              <a:spcBef>
                <a:spcPct val="0"/>
              </a:spcBef>
            </a:pPr>
            <a:r>
              <a:rPr lang="en-US" sz="1757">
                <a:solidFill>
                  <a:srgbClr val="FFFFFF"/>
                </a:solidFill>
                <a:latin typeface="Garet"/>
                <a:ea typeface="Garet"/>
                <a:cs typeface="Garet"/>
                <a:sym typeface="Garet"/>
              </a:rPr>
              <a:t>Graphics Concepts </a:t>
            </a:r>
          </a:p>
        </p:txBody>
      </p:sp>
      <p:sp>
        <p:nvSpPr>
          <p:cNvPr id="10" name="TextBox 10"/>
          <p:cNvSpPr txBox="1"/>
          <p:nvPr/>
        </p:nvSpPr>
        <p:spPr>
          <a:xfrm>
            <a:off x="790001" y="9083964"/>
            <a:ext cx="1303798" cy="298281"/>
          </a:xfrm>
          <a:prstGeom prst="rect">
            <a:avLst/>
          </a:prstGeom>
        </p:spPr>
        <p:txBody>
          <a:bodyPr lIns="0" tIns="0" rIns="0" bIns="0" rtlCol="0" anchor="t">
            <a:spAutoFit/>
          </a:bodyPr>
          <a:lstStyle/>
          <a:p>
            <a:pPr algn="l">
              <a:lnSpc>
                <a:spcPts val="2460"/>
              </a:lnSpc>
              <a:spcBef>
                <a:spcPct val="0"/>
              </a:spcBef>
            </a:pPr>
            <a:r>
              <a:rPr lang="en-US" sz="1757">
                <a:solidFill>
                  <a:srgbClr val="FFFFFF"/>
                </a:solidFill>
                <a:latin typeface="Garet"/>
                <a:ea typeface="Garet"/>
                <a:cs typeface="Garet"/>
                <a:sym typeface="Garet"/>
              </a:rPr>
              <a:t>PAGE 06</a:t>
            </a:r>
          </a:p>
        </p:txBody>
      </p:sp>
      <p:grpSp>
        <p:nvGrpSpPr>
          <p:cNvPr id="11" name="Group 11"/>
          <p:cNvGrpSpPr>
            <a:grpSpLocks noChangeAspect="1"/>
          </p:cNvGrpSpPr>
          <p:nvPr/>
        </p:nvGrpSpPr>
        <p:grpSpPr>
          <a:xfrm>
            <a:off x="7006222" y="3817932"/>
            <a:ext cx="4233219" cy="4233219"/>
            <a:chOff x="0" y="0"/>
            <a:chExt cx="14840029" cy="14840029"/>
          </a:xfrm>
        </p:grpSpPr>
        <p:sp>
          <p:nvSpPr>
            <p:cNvPr id="12" name="Freeform 12"/>
            <p:cNvSpPr/>
            <p:nvPr/>
          </p:nvSpPr>
          <p:spPr>
            <a:xfrm>
              <a:off x="-33258" y="-75"/>
              <a:ext cx="14906544" cy="14840178"/>
            </a:xfrm>
            <a:custGeom>
              <a:avLst/>
              <a:gdLst/>
              <a:ahLst/>
              <a:cxnLst/>
              <a:rect l="l" t="t" r="r" b="b"/>
              <a:pathLst>
                <a:path w="14906544" h="14840178">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1">
              <a:gsLst>
                <a:gs pos="0">
                  <a:srgbClr val="515269">
                    <a:alpha val="100000"/>
                  </a:srgbClr>
                </a:gs>
                <a:gs pos="100000">
                  <a:srgbClr val="00012E">
                    <a:alpha val="0"/>
                  </a:srgbClr>
                </a:gs>
              </a:gsLst>
              <a:lin ang="0"/>
            </a:gradFill>
          </p:spPr>
          <p:txBody>
            <a:bodyPr/>
            <a:lstStyle/>
            <a:p>
              <a:endParaRPr lang="ar-EG"/>
            </a:p>
          </p:txBody>
        </p:sp>
        <p:sp>
          <p:nvSpPr>
            <p:cNvPr id="13" name="Freeform 13"/>
            <p:cNvSpPr/>
            <p:nvPr/>
          </p:nvSpPr>
          <p:spPr>
            <a:xfrm>
              <a:off x="168022" y="200309"/>
              <a:ext cx="14503985" cy="14439411"/>
            </a:xfrm>
            <a:custGeom>
              <a:avLst/>
              <a:gdLst/>
              <a:ahLst/>
              <a:cxnLst/>
              <a:rect l="l" t="t" r="r" b="b"/>
              <a:pathLst>
                <a:path w="14503985" h="14439411">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txBody>
            <a:bodyPr/>
            <a:lstStyle/>
            <a:p>
              <a:endParaRPr lang="ar-EG"/>
            </a:p>
          </p:txBody>
        </p:sp>
        <p:sp>
          <p:nvSpPr>
            <p:cNvPr id="14" name="Freeform 14"/>
            <p:cNvSpPr/>
            <p:nvPr/>
          </p:nvSpPr>
          <p:spPr>
            <a:xfrm>
              <a:off x="531276" y="561946"/>
              <a:ext cx="13777477" cy="13716137"/>
            </a:xfrm>
            <a:custGeom>
              <a:avLst/>
              <a:gdLst/>
              <a:ahLst/>
              <a:cxnLst/>
              <a:rect l="l" t="t" r="r" b="b"/>
              <a:pathLst>
                <a:path w="13777477" h="1371613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5"/>
              <a:stretch>
                <a:fillRect l="-13724" r="-13724"/>
              </a:stretch>
            </a:blipFill>
          </p:spPr>
          <p:txBody>
            <a:bodyPr/>
            <a:lstStyle/>
            <a:p>
              <a:endParaRPr lang="ar-EG"/>
            </a:p>
          </p:txBody>
        </p:sp>
      </p:grpSp>
      <p:sp>
        <p:nvSpPr>
          <p:cNvPr id="15" name="TextBox 15"/>
          <p:cNvSpPr txBox="1"/>
          <p:nvPr/>
        </p:nvSpPr>
        <p:spPr>
          <a:xfrm>
            <a:off x="790001" y="4547161"/>
            <a:ext cx="6216221" cy="2736662"/>
          </a:xfrm>
          <a:prstGeom prst="rect">
            <a:avLst/>
          </a:prstGeom>
        </p:spPr>
        <p:txBody>
          <a:bodyPr lIns="0" tIns="0" rIns="0" bIns="0" rtlCol="0" anchor="t">
            <a:spAutoFit/>
          </a:bodyPr>
          <a:lstStyle/>
          <a:p>
            <a:pPr marL="379421" lvl="1" indent="-189711" algn="l">
              <a:lnSpc>
                <a:spcPts val="2460"/>
              </a:lnSpc>
              <a:buFont typeface="Arial"/>
              <a:buChar char="•"/>
            </a:pPr>
            <a:r>
              <a:rPr lang="en-US" sz="1757" b="1">
                <a:solidFill>
                  <a:srgbClr val="FFFFFF"/>
                </a:solidFill>
                <a:latin typeface="Garet Bold"/>
                <a:ea typeface="Garet Bold"/>
                <a:cs typeface="Garet Bold"/>
                <a:sym typeface="Garet Bold"/>
              </a:rPr>
              <a:t>Enhancing Realism:</a:t>
            </a:r>
            <a:r>
              <a:rPr lang="en-US" sz="1757">
                <a:solidFill>
                  <a:srgbClr val="FFFFFF"/>
                </a:solidFill>
                <a:latin typeface="Garet"/>
                <a:ea typeface="Garet"/>
                <a:cs typeface="Garet"/>
                <a:sym typeface="Garet"/>
              </a:rPr>
              <a:t> The process of mapping flat 2D image arrays (bitmaps) onto 3D spherical geometry.</a:t>
            </a:r>
          </a:p>
          <a:p>
            <a:pPr marL="379421" lvl="1" indent="-189711" algn="l">
              <a:lnSpc>
                <a:spcPts val="2460"/>
              </a:lnSpc>
              <a:buFont typeface="Arial"/>
              <a:buChar char="•"/>
            </a:pPr>
            <a:r>
              <a:rPr lang="en-US" sz="1757" b="1">
                <a:solidFill>
                  <a:srgbClr val="FFFFFF"/>
                </a:solidFill>
                <a:latin typeface="Garet Bold"/>
                <a:ea typeface="Garet Bold"/>
                <a:cs typeface="Garet Bold"/>
                <a:sym typeface="Garet Bold"/>
              </a:rPr>
              <a:t>UV Coordinate Mapping:</a:t>
            </a:r>
            <a:r>
              <a:rPr lang="en-US" sz="1757">
                <a:solidFill>
                  <a:srgbClr val="FFFFFF"/>
                </a:solidFill>
                <a:latin typeface="Garet"/>
                <a:ea typeface="Garet"/>
                <a:cs typeface="Garet"/>
                <a:sym typeface="Garet"/>
              </a:rPr>
              <a:t> Generating specific (U, V) coordinates for every vertex on the sphere. This tells OpenGL exactly which pixel (texel) of the 2D image corresponds to which 3D point, wrapping the high-resolution planetary maps seamlessly.</a:t>
            </a:r>
          </a:p>
          <a:p>
            <a:pPr algn="l">
              <a:lnSpc>
                <a:spcPts val="2460"/>
              </a:lnSpc>
              <a:spcBef>
                <a:spcPct val="0"/>
              </a:spcBef>
            </a:pPr>
            <a:endParaRPr lang="en-US" sz="1757">
              <a:solidFill>
                <a:srgbClr val="FFFFFF"/>
              </a:solidFill>
              <a:latin typeface="Garet"/>
              <a:ea typeface="Garet"/>
              <a:cs typeface="Garet"/>
              <a:sym typeface="Garet"/>
            </a:endParaRPr>
          </a:p>
        </p:txBody>
      </p:sp>
      <p:sp>
        <p:nvSpPr>
          <p:cNvPr id="16" name="Freeform 16"/>
          <p:cNvSpPr/>
          <p:nvPr/>
        </p:nvSpPr>
        <p:spPr>
          <a:xfrm>
            <a:off x="1390209" y="3901979"/>
            <a:ext cx="557998" cy="516401"/>
          </a:xfrm>
          <a:custGeom>
            <a:avLst/>
            <a:gdLst/>
            <a:ahLst/>
            <a:cxnLst/>
            <a:rect l="l" t="t" r="r" b="b"/>
            <a:pathLst>
              <a:path w="557998" h="516401">
                <a:moveTo>
                  <a:pt x="0" y="0"/>
                </a:moveTo>
                <a:lnTo>
                  <a:pt x="557998" y="0"/>
                </a:lnTo>
                <a:lnTo>
                  <a:pt x="557998" y="516401"/>
                </a:lnTo>
                <a:lnTo>
                  <a:pt x="0" y="5164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17" name="TextBox 17"/>
          <p:cNvSpPr txBox="1"/>
          <p:nvPr/>
        </p:nvSpPr>
        <p:spPr>
          <a:xfrm>
            <a:off x="11666158" y="4694605"/>
            <a:ext cx="5829339" cy="2127062"/>
          </a:xfrm>
          <a:prstGeom prst="rect">
            <a:avLst/>
          </a:prstGeom>
        </p:spPr>
        <p:txBody>
          <a:bodyPr lIns="0" tIns="0" rIns="0" bIns="0" rtlCol="0" anchor="t">
            <a:spAutoFit/>
          </a:bodyPr>
          <a:lstStyle/>
          <a:p>
            <a:pPr algn="l">
              <a:lnSpc>
                <a:spcPts val="2460"/>
              </a:lnSpc>
              <a:spcBef>
                <a:spcPct val="0"/>
              </a:spcBef>
            </a:pPr>
            <a:r>
              <a:rPr lang="en-US" sz="1757" b="1">
                <a:solidFill>
                  <a:srgbClr val="FFFFFF"/>
                </a:solidFill>
                <a:latin typeface="Garet Bold"/>
                <a:ea typeface="Garet Bold"/>
                <a:cs typeface="Garet Bold"/>
                <a:sym typeface="Garet Bold"/>
              </a:rPr>
              <a:t>Contribution to Visual Fidelity:</a:t>
            </a:r>
            <a:r>
              <a:rPr lang="en-US" sz="1757">
                <a:solidFill>
                  <a:srgbClr val="FFFFFF"/>
                </a:solidFill>
                <a:latin typeface="Garet"/>
                <a:ea typeface="Garet"/>
                <a:cs typeface="Garet"/>
                <a:sym typeface="Garet"/>
              </a:rPr>
              <a:t> Without textures, the simulation is just a collection of differently colored smooth spheres. Applying high-resolution NASA imagery grounds the simulation in reality, allowing viewers to recognize the Great Red Spot on Jupiter or the continents of Earth.</a:t>
            </a:r>
          </a:p>
          <a:p>
            <a:pPr algn="l">
              <a:lnSpc>
                <a:spcPts val="2460"/>
              </a:lnSpc>
              <a:spcBef>
                <a:spcPct val="0"/>
              </a:spcBef>
            </a:pPr>
            <a:endParaRPr lang="en-US" sz="1757">
              <a:solidFill>
                <a:srgbClr val="FFFFFF"/>
              </a:solidFill>
              <a:latin typeface="Garet"/>
              <a:ea typeface="Garet"/>
              <a:cs typeface="Garet"/>
              <a:sym typeface="Garet"/>
            </a:endParaRPr>
          </a:p>
        </p:txBody>
      </p:sp>
      <p:sp>
        <p:nvSpPr>
          <p:cNvPr id="18" name="Freeform 18"/>
          <p:cNvSpPr/>
          <p:nvPr/>
        </p:nvSpPr>
        <p:spPr>
          <a:xfrm>
            <a:off x="11876253" y="3901979"/>
            <a:ext cx="557998" cy="516401"/>
          </a:xfrm>
          <a:custGeom>
            <a:avLst/>
            <a:gdLst/>
            <a:ahLst/>
            <a:cxnLst/>
            <a:rect l="l" t="t" r="r" b="b"/>
            <a:pathLst>
              <a:path w="557998" h="516401">
                <a:moveTo>
                  <a:pt x="0" y="0"/>
                </a:moveTo>
                <a:lnTo>
                  <a:pt x="557997" y="0"/>
                </a:lnTo>
                <a:lnTo>
                  <a:pt x="557997" y="516401"/>
                </a:lnTo>
                <a:lnTo>
                  <a:pt x="0" y="5164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444" b="-6444"/>
            </a:stretch>
          </a:blipFill>
        </p:spPr>
        <p:txBody>
          <a:bodyPr/>
          <a:lstStyle/>
          <a:p>
            <a:endParaRPr lang="ar-EG"/>
          </a:p>
        </p:txBody>
      </p:sp>
      <p:sp>
        <p:nvSpPr>
          <p:cNvPr id="3" name="Freeform 3"/>
          <p:cNvSpPr/>
          <p:nvPr/>
        </p:nvSpPr>
        <p:spPr>
          <a:xfrm>
            <a:off x="-2508512" y="2751132"/>
            <a:ext cx="6161913" cy="8229600"/>
          </a:xfrm>
          <a:custGeom>
            <a:avLst/>
            <a:gdLst/>
            <a:ahLst/>
            <a:cxnLst/>
            <a:rect l="l" t="t" r="r" b="b"/>
            <a:pathLst>
              <a:path w="6161913" h="8229600">
                <a:moveTo>
                  <a:pt x="0" y="0"/>
                </a:moveTo>
                <a:lnTo>
                  <a:pt x="6161913" y="0"/>
                </a:lnTo>
                <a:lnTo>
                  <a:pt x="6161913" y="8229600"/>
                </a:lnTo>
                <a:lnTo>
                  <a:pt x="0" y="8229600"/>
                </a:lnTo>
                <a:lnTo>
                  <a:pt x="0" y="0"/>
                </a:lnTo>
                <a:close/>
              </a:path>
            </a:pathLst>
          </a:custGeom>
          <a:blipFill>
            <a:blip r:embed="rId3">
              <a:alphaModFix amt="25000"/>
            </a:blip>
            <a:stretch>
              <a:fillRect/>
            </a:stretch>
          </a:blipFill>
        </p:spPr>
        <p:txBody>
          <a:bodyPr/>
          <a:lstStyle/>
          <a:p>
            <a:endParaRPr lang="ar-EG"/>
          </a:p>
        </p:txBody>
      </p:sp>
      <p:sp>
        <p:nvSpPr>
          <p:cNvPr id="4" name="Freeform 4"/>
          <p:cNvSpPr/>
          <p:nvPr/>
        </p:nvSpPr>
        <p:spPr>
          <a:xfrm>
            <a:off x="806000" y="746593"/>
            <a:ext cx="445400" cy="412198"/>
          </a:xfrm>
          <a:custGeom>
            <a:avLst/>
            <a:gdLst/>
            <a:ahLst/>
            <a:cxnLst/>
            <a:rect l="l" t="t" r="r" b="b"/>
            <a:pathLst>
              <a:path w="445400" h="412198">
                <a:moveTo>
                  <a:pt x="0" y="0"/>
                </a:moveTo>
                <a:lnTo>
                  <a:pt x="445400" y="0"/>
                </a:lnTo>
                <a:lnTo>
                  <a:pt x="445400" y="412197"/>
                </a:lnTo>
                <a:lnTo>
                  <a:pt x="0" y="4121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5" name="Freeform 5"/>
          <p:cNvSpPr/>
          <p:nvPr/>
        </p:nvSpPr>
        <p:spPr>
          <a:xfrm>
            <a:off x="13252897" y="0"/>
            <a:ext cx="6161913" cy="8229600"/>
          </a:xfrm>
          <a:custGeom>
            <a:avLst/>
            <a:gdLst/>
            <a:ahLst/>
            <a:cxnLst/>
            <a:rect l="l" t="t" r="r" b="b"/>
            <a:pathLst>
              <a:path w="6161913" h="8229600">
                <a:moveTo>
                  <a:pt x="0" y="0"/>
                </a:moveTo>
                <a:lnTo>
                  <a:pt x="6161913" y="0"/>
                </a:lnTo>
                <a:lnTo>
                  <a:pt x="6161913" y="8229600"/>
                </a:lnTo>
                <a:lnTo>
                  <a:pt x="0" y="8229600"/>
                </a:lnTo>
                <a:lnTo>
                  <a:pt x="0" y="0"/>
                </a:lnTo>
                <a:close/>
              </a:path>
            </a:pathLst>
          </a:custGeom>
          <a:blipFill>
            <a:blip r:embed="rId3">
              <a:alphaModFix amt="25000"/>
            </a:blip>
            <a:stretch>
              <a:fillRect/>
            </a:stretch>
          </a:blipFill>
        </p:spPr>
        <p:txBody>
          <a:bodyPr/>
          <a:lstStyle/>
          <a:p>
            <a:endParaRPr lang="ar-EG"/>
          </a:p>
        </p:txBody>
      </p:sp>
      <p:sp>
        <p:nvSpPr>
          <p:cNvPr id="6" name="Freeform 6"/>
          <p:cNvSpPr/>
          <p:nvPr/>
        </p:nvSpPr>
        <p:spPr>
          <a:xfrm>
            <a:off x="-2508512" y="3186963"/>
            <a:ext cx="5664523" cy="5678719"/>
          </a:xfrm>
          <a:custGeom>
            <a:avLst/>
            <a:gdLst/>
            <a:ahLst/>
            <a:cxnLst/>
            <a:rect l="l" t="t" r="r" b="b"/>
            <a:pathLst>
              <a:path w="5664523" h="5678719">
                <a:moveTo>
                  <a:pt x="0" y="0"/>
                </a:moveTo>
                <a:lnTo>
                  <a:pt x="5664523" y="0"/>
                </a:lnTo>
                <a:lnTo>
                  <a:pt x="5664523" y="5678719"/>
                </a:lnTo>
                <a:lnTo>
                  <a:pt x="0" y="5678719"/>
                </a:lnTo>
                <a:lnTo>
                  <a:pt x="0" y="0"/>
                </a:lnTo>
                <a:close/>
              </a:path>
            </a:pathLst>
          </a:custGeom>
          <a:blipFill>
            <a:blip r:embed="rId5"/>
            <a:stretch>
              <a:fillRect/>
            </a:stretch>
          </a:blipFill>
        </p:spPr>
        <p:txBody>
          <a:bodyPr/>
          <a:lstStyle/>
          <a:p>
            <a:endParaRPr lang="ar-EG"/>
          </a:p>
        </p:txBody>
      </p:sp>
      <p:sp>
        <p:nvSpPr>
          <p:cNvPr id="7" name="TextBox 7"/>
          <p:cNvSpPr txBox="1"/>
          <p:nvPr/>
        </p:nvSpPr>
        <p:spPr>
          <a:xfrm>
            <a:off x="3181257" y="1609296"/>
            <a:ext cx="10071640" cy="2112320"/>
          </a:xfrm>
          <a:prstGeom prst="rect">
            <a:avLst/>
          </a:prstGeom>
        </p:spPr>
        <p:txBody>
          <a:bodyPr lIns="0" tIns="0" rIns="0" bIns="0" rtlCol="0" anchor="t">
            <a:spAutoFit/>
          </a:bodyPr>
          <a:lstStyle/>
          <a:p>
            <a:pPr algn="l">
              <a:lnSpc>
                <a:spcPts val="7348"/>
              </a:lnSpc>
            </a:pPr>
            <a:r>
              <a:rPr lang="en-US" sz="8446" b="1">
                <a:solidFill>
                  <a:srgbClr val="FFFFFF"/>
                </a:solidFill>
                <a:latin typeface="Akzidenz-Grotesk Bold"/>
                <a:ea typeface="Akzidenz-Grotesk Bold"/>
                <a:cs typeface="Akzidenz-Grotesk Bold"/>
                <a:sym typeface="Akzidenz-Grotesk Bold"/>
              </a:rPr>
              <a:t>Camera Navigation &amp; Projection</a:t>
            </a:r>
          </a:p>
        </p:txBody>
      </p:sp>
      <p:sp>
        <p:nvSpPr>
          <p:cNvPr id="8" name="TextBox 8"/>
          <p:cNvSpPr txBox="1"/>
          <p:nvPr/>
        </p:nvSpPr>
        <p:spPr>
          <a:xfrm>
            <a:off x="1594519" y="813076"/>
            <a:ext cx="2294398" cy="298262"/>
          </a:xfrm>
          <a:prstGeom prst="rect">
            <a:avLst/>
          </a:prstGeom>
        </p:spPr>
        <p:txBody>
          <a:bodyPr lIns="0" tIns="0" rIns="0" bIns="0" rtlCol="0" anchor="t">
            <a:spAutoFit/>
          </a:bodyPr>
          <a:lstStyle/>
          <a:p>
            <a:pPr algn="l">
              <a:lnSpc>
                <a:spcPts val="2460"/>
              </a:lnSpc>
              <a:spcBef>
                <a:spcPct val="0"/>
              </a:spcBef>
            </a:pPr>
            <a:r>
              <a:rPr lang="en-US" sz="1757">
                <a:solidFill>
                  <a:srgbClr val="FFFFFF"/>
                </a:solidFill>
                <a:latin typeface="Garet"/>
                <a:ea typeface="Garet"/>
                <a:cs typeface="Garet"/>
                <a:sym typeface="Garet"/>
              </a:rPr>
              <a:t>Graphics Concepts </a:t>
            </a:r>
          </a:p>
        </p:txBody>
      </p:sp>
      <p:sp>
        <p:nvSpPr>
          <p:cNvPr id="9" name="TextBox 9"/>
          <p:cNvSpPr txBox="1"/>
          <p:nvPr/>
        </p:nvSpPr>
        <p:spPr>
          <a:xfrm>
            <a:off x="790001" y="9083964"/>
            <a:ext cx="1303798" cy="298281"/>
          </a:xfrm>
          <a:prstGeom prst="rect">
            <a:avLst/>
          </a:prstGeom>
        </p:spPr>
        <p:txBody>
          <a:bodyPr lIns="0" tIns="0" rIns="0" bIns="0" rtlCol="0" anchor="t">
            <a:spAutoFit/>
          </a:bodyPr>
          <a:lstStyle/>
          <a:p>
            <a:pPr algn="l">
              <a:lnSpc>
                <a:spcPts val="2460"/>
              </a:lnSpc>
              <a:spcBef>
                <a:spcPct val="0"/>
              </a:spcBef>
            </a:pPr>
            <a:r>
              <a:rPr lang="en-US" sz="1757">
                <a:solidFill>
                  <a:srgbClr val="FFFFFF"/>
                </a:solidFill>
                <a:latin typeface="Garet"/>
                <a:ea typeface="Garet"/>
                <a:cs typeface="Garet"/>
                <a:sym typeface="Garet"/>
              </a:rPr>
              <a:t>PAGE 07</a:t>
            </a:r>
          </a:p>
        </p:txBody>
      </p:sp>
      <p:sp>
        <p:nvSpPr>
          <p:cNvPr id="10" name="TextBox 10"/>
          <p:cNvSpPr txBox="1"/>
          <p:nvPr/>
        </p:nvSpPr>
        <p:spPr>
          <a:xfrm>
            <a:off x="3888916" y="4076700"/>
            <a:ext cx="10774596" cy="4788982"/>
          </a:xfrm>
          <a:prstGeom prst="rect">
            <a:avLst/>
          </a:prstGeom>
        </p:spPr>
        <p:txBody>
          <a:bodyPr lIns="0" tIns="0" rIns="0" bIns="0" rtlCol="0" anchor="t">
            <a:spAutoFit/>
          </a:bodyPr>
          <a:lstStyle/>
          <a:p>
            <a:pPr marL="422600" lvl="1" indent="-211300" algn="l">
              <a:lnSpc>
                <a:spcPts val="2740"/>
              </a:lnSpc>
              <a:buFont typeface="Arial"/>
              <a:buChar char="•"/>
            </a:pPr>
            <a:r>
              <a:rPr lang="en-US" sz="1957" b="1">
                <a:solidFill>
                  <a:srgbClr val="FFFFFF"/>
                </a:solidFill>
                <a:latin typeface="Garet Bold"/>
                <a:ea typeface="Garet Bold"/>
                <a:cs typeface="Garet Bold"/>
                <a:sym typeface="Garet Bold"/>
              </a:rPr>
              <a:t>Perspective Projection: </a:t>
            </a:r>
            <a:r>
              <a:rPr lang="en-US" sz="1957">
                <a:solidFill>
                  <a:srgbClr val="FFFFFF"/>
                </a:solidFill>
                <a:latin typeface="Garet"/>
                <a:ea typeface="Garet"/>
                <a:cs typeface="Garet"/>
                <a:sym typeface="Garet"/>
              </a:rPr>
              <a:t>We used gluPerspective to create a viewing frustum (a 3D pyramid of vision). This gives a true 3D sense of depth, ensuring distant planets appear appropriately smaller than closer ones, mimicking human optical vision and the concept of foreshortening.</a:t>
            </a:r>
          </a:p>
          <a:p>
            <a:pPr marL="422600" lvl="1" indent="-211300" algn="l">
              <a:lnSpc>
                <a:spcPts val="2740"/>
              </a:lnSpc>
              <a:buFont typeface="Arial"/>
              <a:buChar char="•"/>
            </a:pPr>
            <a:r>
              <a:rPr lang="en-US" sz="1957" b="1">
                <a:solidFill>
                  <a:srgbClr val="FFFFFF"/>
                </a:solidFill>
                <a:latin typeface="Garet Bold"/>
                <a:ea typeface="Garet Bold"/>
                <a:cs typeface="Garet Bold"/>
                <a:sym typeface="Garet Bold"/>
              </a:rPr>
              <a:t>The LookAt Matrix:</a:t>
            </a:r>
            <a:r>
              <a:rPr lang="en-US" sz="1957">
                <a:solidFill>
                  <a:srgbClr val="FFFFFF"/>
                </a:solidFill>
                <a:latin typeface="Garet"/>
                <a:ea typeface="Garet"/>
                <a:cs typeface="Garet"/>
                <a:sym typeface="Garet"/>
              </a:rPr>
              <a:t> Utilized gluLookAt to define the camera's position in space, the exact point it is looking at (the target), and the "Up" vector to orient the camera.</a:t>
            </a:r>
          </a:p>
          <a:p>
            <a:pPr marL="422600" lvl="1" indent="-211300" algn="l">
              <a:lnSpc>
                <a:spcPts val="2740"/>
              </a:lnSpc>
              <a:buFont typeface="Arial"/>
              <a:buChar char="•"/>
            </a:pPr>
            <a:r>
              <a:rPr lang="en-US" sz="1957" b="1">
                <a:solidFill>
                  <a:srgbClr val="FFFFFF"/>
                </a:solidFill>
                <a:latin typeface="Garet Bold"/>
                <a:ea typeface="Garet Bold"/>
                <a:cs typeface="Garet Bold"/>
                <a:sym typeface="Garet Bold"/>
              </a:rPr>
              <a:t>Interactive Viewing: </a:t>
            </a:r>
            <a:r>
              <a:rPr lang="en-US" sz="1957">
                <a:solidFill>
                  <a:srgbClr val="FFFFFF"/>
                </a:solidFill>
                <a:latin typeface="Garet"/>
                <a:ea typeface="Garet"/>
                <a:cs typeface="Garet"/>
                <a:sym typeface="Garet"/>
              </a:rPr>
              <a:t>Implemented a user-controlled camera linked to keyboard and mouse callbacks.</a:t>
            </a:r>
          </a:p>
          <a:p>
            <a:pPr marL="422600" lvl="1" indent="-211300" algn="l">
              <a:lnSpc>
                <a:spcPts val="2740"/>
              </a:lnSpc>
              <a:spcBef>
                <a:spcPct val="0"/>
              </a:spcBef>
              <a:buFont typeface="Arial"/>
              <a:buChar char="•"/>
            </a:pPr>
            <a:r>
              <a:rPr lang="en-US" sz="1957" b="1">
                <a:solidFill>
                  <a:srgbClr val="FFFFFF"/>
                </a:solidFill>
                <a:latin typeface="Garet Bold"/>
                <a:ea typeface="Garet Bold"/>
                <a:cs typeface="Garet Bold"/>
                <a:sym typeface="Garet Bold"/>
              </a:rPr>
              <a:t>Immersive Exploration:</a:t>
            </a:r>
            <a:r>
              <a:rPr lang="en-US" sz="1957">
                <a:solidFill>
                  <a:srgbClr val="FFFFFF"/>
                </a:solidFill>
                <a:latin typeface="Garet"/>
                <a:ea typeface="Garet"/>
                <a:cs typeface="Garet"/>
                <a:sym typeface="Garet"/>
              </a:rPr>
              <a:t> The camera system acts as the user's personal spacecraft. By granting full 6 Degrees of Freedom (6DoF) spatial freedom, it allows for an immersive exploration of the Solar System from any angle—whether hovering above the ecliptic plane or getting up close to see a planet's rotation.</a:t>
            </a:r>
          </a:p>
          <a:p>
            <a:pPr algn="l">
              <a:lnSpc>
                <a:spcPts val="2740"/>
              </a:lnSpc>
              <a:spcBef>
                <a:spcPct val="0"/>
              </a:spcBef>
            </a:pPr>
            <a:endParaRPr lang="en-US" sz="1957">
              <a:solidFill>
                <a:srgbClr val="FFFFFF"/>
              </a:solidFill>
              <a:latin typeface="Garet"/>
              <a:ea typeface="Garet"/>
              <a:cs typeface="Garet"/>
              <a:sym typeface="Garet"/>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444" b="-6444"/>
            </a:stretch>
          </a:blipFill>
        </p:spPr>
        <p:txBody>
          <a:bodyPr/>
          <a:lstStyle/>
          <a:p>
            <a:endParaRPr lang="ar-EG"/>
          </a:p>
        </p:txBody>
      </p:sp>
      <p:sp>
        <p:nvSpPr>
          <p:cNvPr id="3" name="Freeform 3"/>
          <p:cNvSpPr/>
          <p:nvPr/>
        </p:nvSpPr>
        <p:spPr>
          <a:xfrm>
            <a:off x="-2508512" y="2751132"/>
            <a:ext cx="6161913" cy="8229600"/>
          </a:xfrm>
          <a:custGeom>
            <a:avLst/>
            <a:gdLst/>
            <a:ahLst/>
            <a:cxnLst/>
            <a:rect l="l" t="t" r="r" b="b"/>
            <a:pathLst>
              <a:path w="6161913" h="8229600">
                <a:moveTo>
                  <a:pt x="0" y="0"/>
                </a:moveTo>
                <a:lnTo>
                  <a:pt x="6161913" y="0"/>
                </a:lnTo>
                <a:lnTo>
                  <a:pt x="6161913" y="8229600"/>
                </a:lnTo>
                <a:lnTo>
                  <a:pt x="0" y="8229600"/>
                </a:lnTo>
                <a:lnTo>
                  <a:pt x="0" y="0"/>
                </a:lnTo>
                <a:close/>
              </a:path>
            </a:pathLst>
          </a:custGeom>
          <a:blipFill>
            <a:blip r:embed="rId3">
              <a:alphaModFix amt="25000"/>
            </a:blip>
            <a:stretch>
              <a:fillRect/>
            </a:stretch>
          </a:blipFill>
        </p:spPr>
        <p:txBody>
          <a:bodyPr/>
          <a:lstStyle/>
          <a:p>
            <a:endParaRPr lang="ar-EG"/>
          </a:p>
        </p:txBody>
      </p:sp>
      <p:sp>
        <p:nvSpPr>
          <p:cNvPr id="4" name="Freeform 4"/>
          <p:cNvSpPr/>
          <p:nvPr/>
        </p:nvSpPr>
        <p:spPr>
          <a:xfrm>
            <a:off x="806000" y="746593"/>
            <a:ext cx="445400" cy="412198"/>
          </a:xfrm>
          <a:custGeom>
            <a:avLst/>
            <a:gdLst/>
            <a:ahLst/>
            <a:cxnLst/>
            <a:rect l="l" t="t" r="r" b="b"/>
            <a:pathLst>
              <a:path w="445400" h="412198">
                <a:moveTo>
                  <a:pt x="0" y="0"/>
                </a:moveTo>
                <a:lnTo>
                  <a:pt x="445400" y="0"/>
                </a:lnTo>
                <a:lnTo>
                  <a:pt x="445400" y="412197"/>
                </a:lnTo>
                <a:lnTo>
                  <a:pt x="0" y="4121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grpSp>
        <p:nvGrpSpPr>
          <p:cNvPr id="5" name="Group 5"/>
          <p:cNvGrpSpPr>
            <a:grpSpLocks noChangeAspect="1"/>
          </p:cNvGrpSpPr>
          <p:nvPr/>
        </p:nvGrpSpPr>
        <p:grpSpPr>
          <a:xfrm>
            <a:off x="1028700" y="2453863"/>
            <a:ext cx="5373129" cy="5373129"/>
            <a:chOff x="0" y="0"/>
            <a:chExt cx="14840029" cy="14840029"/>
          </a:xfrm>
        </p:grpSpPr>
        <p:sp>
          <p:nvSpPr>
            <p:cNvPr id="6" name="Freeform 6"/>
            <p:cNvSpPr/>
            <p:nvPr/>
          </p:nvSpPr>
          <p:spPr>
            <a:xfrm>
              <a:off x="-33258" y="-75"/>
              <a:ext cx="14906544" cy="14840178"/>
            </a:xfrm>
            <a:custGeom>
              <a:avLst/>
              <a:gdLst/>
              <a:ahLst/>
              <a:cxnLst/>
              <a:rect l="l" t="t" r="r" b="b"/>
              <a:pathLst>
                <a:path w="14906544" h="14840178">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1">
              <a:gsLst>
                <a:gs pos="0">
                  <a:srgbClr val="515269">
                    <a:alpha val="100000"/>
                  </a:srgbClr>
                </a:gs>
                <a:gs pos="100000">
                  <a:srgbClr val="00012E">
                    <a:alpha val="0"/>
                  </a:srgbClr>
                </a:gs>
              </a:gsLst>
              <a:lin ang="0"/>
            </a:gradFill>
          </p:spPr>
          <p:txBody>
            <a:bodyPr/>
            <a:lstStyle/>
            <a:p>
              <a:endParaRPr lang="ar-EG"/>
            </a:p>
          </p:txBody>
        </p:sp>
        <p:sp>
          <p:nvSpPr>
            <p:cNvPr id="7" name="Freeform 7"/>
            <p:cNvSpPr/>
            <p:nvPr/>
          </p:nvSpPr>
          <p:spPr>
            <a:xfrm>
              <a:off x="168022" y="200309"/>
              <a:ext cx="14503985" cy="14439411"/>
            </a:xfrm>
            <a:custGeom>
              <a:avLst/>
              <a:gdLst/>
              <a:ahLst/>
              <a:cxnLst/>
              <a:rect l="l" t="t" r="r" b="b"/>
              <a:pathLst>
                <a:path w="14503985" h="14439411">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txBody>
            <a:bodyPr/>
            <a:lstStyle/>
            <a:p>
              <a:endParaRPr lang="ar-EG"/>
            </a:p>
          </p:txBody>
        </p:sp>
        <p:sp>
          <p:nvSpPr>
            <p:cNvPr id="8" name="Freeform 8"/>
            <p:cNvSpPr/>
            <p:nvPr/>
          </p:nvSpPr>
          <p:spPr>
            <a:xfrm>
              <a:off x="531276" y="561946"/>
              <a:ext cx="13777477" cy="13716137"/>
            </a:xfrm>
            <a:custGeom>
              <a:avLst/>
              <a:gdLst/>
              <a:ahLst/>
              <a:cxnLst/>
              <a:rect l="l" t="t" r="r" b="b"/>
              <a:pathLst>
                <a:path w="13777477" h="1371613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5"/>
              <a:stretch>
                <a:fillRect l="-32678" r="-44306"/>
              </a:stretch>
            </a:blipFill>
          </p:spPr>
          <p:txBody>
            <a:bodyPr/>
            <a:lstStyle/>
            <a:p>
              <a:endParaRPr lang="ar-EG"/>
            </a:p>
          </p:txBody>
        </p:sp>
      </p:grpSp>
      <p:sp>
        <p:nvSpPr>
          <p:cNvPr id="9" name="TextBox 9"/>
          <p:cNvSpPr txBox="1"/>
          <p:nvPr/>
        </p:nvSpPr>
        <p:spPr>
          <a:xfrm>
            <a:off x="7877908" y="1274736"/>
            <a:ext cx="7930277" cy="2112320"/>
          </a:xfrm>
          <a:prstGeom prst="rect">
            <a:avLst/>
          </a:prstGeom>
        </p:spPr>
        <p:txBody>
          <a:bodyPr lIns="0" tIns="0" rIns="0" bIns="0" rtlCol="0" anchor="t">
            <a:spAutoFit/>
          </a:bodyPr>
          <a:lstStyle/>
          <a:p>
            <a:pPr algn="l">
              <a:lnSpc>
                <a:spcPts val="7348"/>
              </a:lnSpc>
            </a:pPr>
            <a:r>
              <a:rPr lang="en-US" sz="8446" b="1">
                <a:solidFill>
                  <a:srgbClr val="FFFFFF"/>
                </a:solidFill>
                <a:latin typeface="Akzidenz-Grotesk Bold"/>
                <a:ea typeface="Akzidenz-Grotesk Bold"/>
                <a:cs typeface="Akzidenz-Grotesk Bold"/>
                <a:sym typeface="Akzidenz-Grotesk Bold"/>
              </a:rPr>
              <a:t>Live View &amp; Architecture</a:t>
            </a:r>
          </a:p>
        </p:txBody>
      </p:sp>
      <p:sp>
        <p:nvSpPr>
          <p:cNvPr id="10" name="TextBox 10"/>
          <p:cNvSpPr txBox="1"/>
          <p:nvPr/>
        </p:nvSpPr>
        <p:spPr>
          <a:xfrm>
            <a:off x="1594519" y="813076"/>
            <a:ext cx="3437398" cy="298262"/>
          </a:xfrm>
          <a:prstGeom prst="rect">
            <a:avLst/>
          </a:prstGeom>
        </p:spPr>
        <p:txBody>
          <a:bodyPr lIns="0" tIns="0" rIns="0" bIns="0" rtlCol="0" anchor="t">
            <a:spAutoFit/>
          </a:bodyPr>
          <a:lstStyle/>
          <a:p>
            <a:pPr algn="l">
              <a:lnSpc>
                <a:spcPts val="2460"/>
              </a:lnSpc>
              <a:spcBef>
                <a:spcPct val="0"/>
              </a:spcBef>
            </a:pPr>
            <a:r>
              <a:rPr lang="en-US" sz="1757">
                <a:solidFill>
                  <a:srgbClr val="FFFFFF"/>
                </a:solidFill>
                <a:latin typeface="Garet"/>
                <a:ea typeface="Garet"/>
                <a:cs typeface="Garet"/>
                <a:sym typeface="Garet"/>
              </a:rPr>
              <a:t>System Demonstration</a:t>
            </a:r>
          </a:p>
        </p:txBody>
      </p:sp>
      <p:sp>
        <p:nvSpPr>
          <p:cNvPr id="11" name="TextBox 11"/>
          <p:cNvSpPr txBox="1"/>
          <p:nvPr/>
        </p:nvSpPr>
        <p:spPr>
          <a:xfrm>
            <a:off x="790001" y="9083964"/>
            <a:ext cx="1303798" cy="298281"/>
          </a:xfrm>
          <a:prstGeom prst="rect">
            <a:avLst/>
          </a:prstGeom>
        </p:spPr>
        <p:txBody>
          <a:bodyPr lIns="0" tIns="0" rIns="0" bIns="0" rtlCol="0" anchor="t">
            <a:spAutoFit/>
          </a:bodyPr>
          <a:lstStyle/>
          <a:p>
            <a:pPr algn="l">
              <a:lnSpc>
                <a:spcPts val="2460"/>
              </a:lnSpc>
              <a:spcBef>
                <a:spcPct val="0"/>
              </a:spcBef>
            </a:pPr>
            <a:r>
              <a:rPr lang="en-US" sz="1757">
                <a:solidFill>
                  <a:srgbClr val="FFFFFF"/>
                </a:solidFill>
                <a:latin typeface="Garet"/>
                <a:ea typeface="Garet"/>
                <a:cs typeface="Garet"/>
                <a:sym typeface="Garet"/>
              </a:rPr>
              <a:t>PAGE 08</a:t>
            </a:r>
          </a:p>
        </p:txBody>
      </p:sp>
      <p:sp>
        <p:nvSpPr>
          <p:cNvPr id="12" name="TextBox 12"/>
          <p:cNvSpPr txBox="1"/>
          <p:nvPr/>
        </p:nvSpPr>
        <p:spPr>
          <a:xfrm>
            <a:off x="6640843" y="3869335"/>
            <a:ext cx="11062166" cy="3869151"/>
          </a:xfrm>
          <a:prstGeom prst="rect">
            <a:avLst/>
          </a:prstGeom>
        </p:spPr>
        <p:txBody>
          <a:bodyPr lIns="0" tIns="0" rIns="0" bIns="0" rtlCol="0" anchor="t">
            <a:spAutoFit/>
          </a:bodyPr>
          <a:lstStyle/>
          <a:p>
            <a:pPr marL="433879" lvl="1" indent="-216940" algn="l">
              <a:lnSpc>
                <a:spcPts val="2813"/>
              </a:lnSpc>
              <a:buFont typeface="Arial"/>
              <a:buChar char="•"/>
            </a:pPr>
            <a:r>
              <a:rPr lang="en-US" sz="2009" b="1">
                <a:solidFill>
                  <a:srgbClr val="FFFFFF"/>
                </a:solidFill>
                <a:latin typeface="Garet Bold"/>
                <a:ea typeface="Garet Bold"/>
                <a:cs typeface="Garet Bold"/>
                <a:sym typeface="Garet Bold"/>
              </a:rPr>
              <a:t>Showcasing the Initial State: </a:t>
            </a:r>
            <a:r>
              <a:rPr lang="en-US" sz="2009">
                <a:solidFill>
                  <a:srgbClr val="FFFFFF"/>
                </a:solidFill>
                <a:latin typeface="Garet"/>
                <a:ea typeface="Garet"/>
                <a:cs typeface="Garet"/>
                <a:sym typeface="Garet"/>
              </a:rPr>
              <a:t>The Sun at the center with planets positioned in their respective orbits, immediately demonstrating the vast scales involved.</a:t>
            </a:r>
          </a:p>
          <a:p>
            <a:pPr marL="433879" lvl="1" indent="-216940" algn="l">
              <a:lnSpc>
                <a:spcPts val="2813"/>
              </a:lnSpc>
              <a:buFont typeface="Arial"/>
              <a:buChar char="•"/>
            </a:pPr>
            <a:r>
              <a:rPr lang="en-US" sz="2009" b="1">
                <a:solidFill>
                  <a:srgbClr val="FFFFFF"/>
                </a:solidFill>
                <a:latin typeface="Garet Bold"/>
                <a:ea typeface="Garet Bold"/>
                <a:cs typeface="Garet Bold"/>
                <a:sym typeface="Garet Bold"/>
              </a:rPr>
              <a:t>The Render Loop: </a:t>
            </a:r>
            <a:r>
              <a:rPr lang="en-US" sz="2009">
                <a:solidFill>
                  <a:srgbClr val="FFFFFF"/>
                </a:solidFill>
                <a:latin typeface="Garet"/>
                <a:ea typeface="Garet"/>
                <a:cs typeface="Garet"/>
                <a:sym typeface="Garet"/>
              </a:rPr>
              <a:t>Explaining what is happening behind the scenes. Every fraction of a second, the screen is cleared, the depth buffer (Z-buffer) is reset, new positions are calculated based on delta-time, and the entire scene is redrawn.</a:t>
            </a:r>
          </a:p>
          <a:p>
            <a:pPr marL="433879" lvl="1" indent="-216940" algn="l">
              <a:lnSpc>
                <a:spcPts val="2813"/>
              </a:lnSpc>
              <a:spcBef>
                <a:spcPct val="0"/>
              </a:spcBef>
              <a:buFont typeface="Arial"/>
              <a:buChar char="•"/>
            </a:pPr>
            <a:r>
              <a:rPr lang="en-US" sz="2009" b="1">
                <a:solidFill>
                  <a:srgbClr val="FFFFFF"/>
                </a:solidFill>
                <a:latin typeface="Garet Bold"/>
                <a:ea typeface="Garet Bold"/>
                <a:cs typeface="Garet Bold"/>
                <a:sym typeface="Garet Bold"/>
              </a:rPr>
              <a:t>Double Buffering:</a:t>
            </a:r>
            <a:r>
              <a:rPr lang="en-US" sz="2009">
                <a:solidFill>
                  <a:srgbClr val="FFFFFF"/>
                </a:solidFill>
                <a:latin typeface="Garet"/>
                <a:ea typeface="Garet"/>
                <a:cs typeface="Garet"/>
                <a:sym typeface="Garet"/>
              </a:rPr>
              <a:t> Mentioning how smooth animation is achieved. We draw to a hidden "back buffer", and when the frame is complete, we swap it with the "front buffer" displayed on the monitor. This eliminates screen tearing and flickering, heavily enhancing the user experience.</a:t>
            </a:r>
          </a:p>
          <a:p>
            <a:pPr algn="l">
              <a:lnSpc>
                <a:spcPts val="2813"/>
              </a:lnSpc>
              <a:spcBef>
                <a:spcPct val="0"/>
              </a:spcBef>
            </a:pPr>
            <a:endParaRPr lang="en-US" sz="2009">
              <a:solidFill>
                <a:srgbClr val="FFFFFF"/>
              </a:solidFill>
              <a:latin typeface="Garet"/>
              <a:ea typeface="Garet"/>
              <a:cs typeface="Garet"/>
              <a:sym typeface="Garet"/>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444" b="-6444"/>
            </a:stretch>
          </a:blipFill>
        </p:spPr>
        <p:txBody>
          <a:bodyPr/>
          <a:lstStyle/>
          <a:p>
            <a:endParaRPr lang="ar-EG"/>
          </a:p>
        </p:txBody>
      </p:sp>
      <p:sp>
        <p:nvSpPr>
          <p:cNvPr id="3" name="Freeform 3"/>
          <p:cNvSpPr/>
          <p:nvPr/>
        </p:nvSpPr>
        <p:spPr>
          <a:xfrm>
            <a:off x="806000" y="746593"/>
            <a:ext cx="445400" cy="412198"/>
          </a:xfrm>
          <a:custGeom>
            <a:avLst/>
            <a:gdLst/>
            <a:ahLst/>
            <a:cxnLst/>
            <a:rect l="l" t="t" r="r" b="b"/>
            <a:pathLst>
              <a:path w="445400" h="412198">
                <a:moveTo>
                  <a:pt x="0" y="0"/>
                </a:moveTo>
                <a:lnTo>
                  <a:pt x="445400" y="0"/>
                </a:lnTo>
                <a:lnTo>
                  <a:pt x="445400" y="412197"/>
                </a:lnTo>
                <a:lnTo>
                  <a:pt x="0" y="41219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4" name="TextBox 4"/>
          <p:cNvSpPr txBox="1"/>
          <p:nvPr/>
        </p:nvSpPr>
        <p:spPr>
          <a:xfrm>
            <a:off x="3712874" y="2031810"/>
            <a:ext cx="10382194" cy="1180775"/>
          </a:xfrm>
          <a:prstGeom prst="rect">
            <a:avLst/>
          </a:prstGeom>
        </p:spPr>
        <p:txBody>
          <a:bodyPr lIns="0" tIns="0" rIns="0" bIns="0" rtlCol="0" anchor="t">
            <a:spAutoFit/>
          </a:bodyPr>
          <a:lstStyle/>
          <a:p>
            <a:pPr algn="ctr">
              <a:lnSpc>
                <a:spcPts val="7348"/>
              </a:lnSpc>
            </a:pPr>
            <a:r>
              <a:rPr lang="en-US" sz="8446" b="1">
                <a:solidFill>
                  <a:srgbClr val="FFFFFF"/>
                </a:solidFill>
                <a:latin typeface="Akzidenz-Grotesk Bold"/>
                <a:ea typeface="Akzidenz-Grotesk Bold"/>
                <a:cs typeface="Akzidenz-Grotesk Bold"/>
                <a:sym typeface="Akzidenz-Grotesk Bold"/>
              </a:rPr>
              <a:t>Setup and Stack</a:t>
            </a:r>
          </a:p>
        </p:txBody>
      </p:sp>
      <p:sp>
        <p:nvSpPr>
          <p:cNvPr id="5" name="TextBox 5"/>
          <p:cNvSpPr txBox="1"/>
          <p:nvPr/>
        </p:nvSpPr>
        <p:spPr>
          <a:xfrm>
            <a:off x="1594519" y="813076"/>
            <a:ext cx="4236711" cy="298262"/>
          </a:xfrm>
          <a:prstGeom prst="rect">
            <a:avLst/>
          </a:prstGeom>
        </p:spPr>
        <p:txBody>
          <a:bodyPr lIns="0" tIns="0" rIns="0" bIns="0" rtlCol="0" anchor="t">
            <a:spAutoFit/>
          </a:bodyPr>
          <a:lstStyle/>
          <a:p>
            <a:pPr algn="l">
              <a:lnSpc>
                <a:spcPts val="2460"/>
              </a:lnSpc>
              <a:spcBef>
                <a:spcPct val="0"/>
              </a:spcBef>
            </a:pPr>
            <a:r>
              <a:rPr lang="en-US" sz="1757">
                <a:solidFill>
                  <a:srgbClr val="FFFFFF"/>
                </a:solidFill>
                <a:latin typeface="Garet"/>
                <a:ea typeface="Garet"/>
                <a:cs typeface="Garet"/>
                <a:sym typeface="Garet"/>
              </a:rPr>
              <a:t>Technical Implementation</a:t>
            </a:r>
          </a:p>
        </p:txBody>
      </p:sp>
      <p:sp>
        <p:nvSpPr>
          <p:cNvPr id="6" name="TextBox 6"/>
          <p:cNvSpPr txBox="1"/>
          <p:nvPr/>
        </p:nvSpPr>
        <p:spPr>
          <a:xfrm>
            <a:off x="790001" y="9083964"/>
            <a:ext cx="1303798" cy="298281"/>
          </a:xfrm>
          <a:prstGeom prst="rect">
            <a:avLst/>
          </a:prstGeom>
        </p:spPr>
        <p:txBody>
          <a:bodyPr lIns="0" tIns="0" rIns="0" bIns="0" rtlCol="0" anchor="t">
            <a:spAutoFit/>
          </a:bodyPr>
          <a:lstStyle/>
          <a:p>
            <a:pPr algn="l">
              <a:lnSpc>
                <a:spcPts val="2460"/>
              </a:lnSpc>
              <a:spcBef>
                <a:spcPct val="0"/>
              </a:spcBef>
            </a:pPr>
            <a:r>
              <a:rPr lang="en-US" sz="1757">
                <a:solidFill>
                  <a:srgbClr val="FFFFFF"/>
                </a:solidFill>
                <a:latin typeface="Garet"/>
                <a:ea typeface="Garet"/>
                <a:cs typeface="Garet"/>
                <a:sym typeface="Garet"/>
              </a:rPr>
              <a:t>PAGE 06</a:t>
            </a:r>
          </a:p>
        </p:txBody>
      </p:sp>
      <p:sp>
        <p:nvSpPr>
          <p:cNvPr id="7" name="TextBox 7"/>
          <p:cNvSpPr txBox="1"/>
          <p:nvPr/>
        </p:nvSpPr>
        <p:spPr>
          <a:xfrm>
            <a:off x="2852681" y="3498601"/>
            <a:ext cx="12102581" cy="5759699"/>
          </a:xfrm>
          <a:prstGeom prst="rect">
            <a:avLst/>
          </a:prstGeom>
        </p:spPr>
        <p:txBody>
          <a:bodyPr lIns="0" tIns="0" rIns="0" bIns="0" rtlCol="0" anchor="t">
            <a:spAutoFit/>
          </a:bodyPr>
          <a:lstStyle/>
          <a:p>
            <a:pPr marL="474686" lvl="1" indent="-237343" algn="l">
              <a:lnSpc>
                <a:spcPts val="3078"/>
              </a:lnSpc>
              <a:buFont typeface="Arial"/>
              <a:buChar char="•"/>
            </a:pPr>
            <a:r>
              <a:rPr lang="en-US" sz="2198" b="1">
                <a:solidFill>
                  <a:srgbClr val="FFFFFF"/>
                </a:solidFill>
                <a:latin typeface="Garet Bold"/>
                <a:ea typeface="Garet Bold"/>
                <a:cs typeface="Garet Bold"/>
                <a:sym typeface="Garet Bold"/>
              </a:rPr>
              <a:t>Environment:</a:t>
            </a:r>
            <a:r>
              <a:rPr lang="en-US" sz="2198">
                <a:solidFill>
                  <a:srgbClr val="FFFFFF"/>
                </a:solidFill>
                <a:latin typeface="Garet"/>
                <a:ea typeface="Garet"/>
                <a:cs typeface="Garet"/>
                <a:sym typeface="Garet"/>
              </a:rPr>
              <a:t> Developed in Visual Studio using C++, utilizing the MSVC compiler and linker to build a native Windows executable.</a:t>
            </a:r>
          </a:p>
          <a:p>
            <a:pPr marL="474686" lvl="1" indent="-237343" algn="l">
              <a:lnSpc>
                <a:spcPts val="3078"/>
              </a:lnSpc>
              <a:buFont typeface="Arial"/>
              <a:buChar char="•"/>
            </a:pPr>
            <a:r>
              <a:rPr lang="en-US" sz="2198">
                <a:solidFill>
                  <a:srgbClr val="FFFFFF"/>
                </a:solidFill>
                <a:latin typeface="Garet"/>
                <a:ea typeface="Garet"/>
                <a:cs typeface="Garet"/>
                <a:sym typeface="Garet"/>
              </a:rPr>
              <a:t>Libraries Chosen and Why:</a:t>
            </a:r>
          </a:p>
          <a:p>
            <a:pPr marL="474686" lvl="1" indent="-237343" algn="l">
              <a:lnSpc>
                <a:spcPts val="3078"/>
              </a:lnSpc>
              <a:buFont typeface="Arial"/>
              <a:buChar char="•"/>
            </a:pPr>
            <a:r>
              <a:rPr lang="en-US" sz="2198" b="1">
                <a:solidFill>
                  <a:srgbClr val="FFFFFF"/>
                </a:solidFill>
                <a:latin typeface="Garet Bold"/>
                <a:ea typeface="Garet Bold"/>
                <a:cs typeface="Garet Bold"/>
                <a:sym typeface="Garet Bold"/>
              </a:rPr>
              <a:t>OpenGL (Core API):</a:t>
            </a:r>
            <a:r>
              <a:rPr lang="en-US" sz="2198">
                <a:solidFill>
                  <a:srgbClr val="FFFFFF"/>
                </a:solidFill>
                <a:latin typeface="Garet"/>
                <a:ea typeface="Garet"/>
                <a:cs typeface="Garet"/>
                <a:sym typeface="Garet"/>
              </a:rPr>
              <a:t> The industry-standard, cross-platform hardware acceleration API for rendering 2D and 3D vector graphics.</a:t>
            </a:r>
          </a:p>
          <a:p>
            <a:pPr marL="474686" lvl="1" indent="-237343" algn="l">
              <a:lnSpc>
                <a:spcPts val="3078"/>
              </a:lnSpc>
              <a:buFont typeface="Arial"/>
              <a:buChar char="•"/>
            </a:pPr>
            <a:r>
              <a:rPr lang="en-US" sz="2198" b="1">
                <a:solidFill>
                  <a:srgbClr val="FFFFFF"/>
                </a:solidFill>
                <a:latin typeface="Garet Bold"/>
                <a:ea typeface="Garet Bold"/>
                <a:cs typeface="Garet Bold"/>
                <a:sym typeface="Garet Bold"/>
              </a:rPr>
              <a:t>GLFW / FreeGLUT: </a:t>
            </a:r>
            <a:r>
              <a:rPr lang="en-US" sz="2198">
                <a:solidFill>
                  <a:srgbClr val="FFFFFF"/>
                </a:solidFill>
                <a:latin typeface="Garet"/>
                <a:ea typeface="Garet"/>
                <a:cs typeface="Garet"/>
                <a:sym typeface="Garet"/>
              </a:rPr>
              <a:t>Window creation and OS-level input handling. We used this because creating native Win32 windows from scratch is excessively verbose; this library abstracts the OS layer perfectly.</a:t>
            </a:r>
          </a:p>
          <a:p>
            <a:pPr marL="474686" lvl="1" indent="-237343" algn="l">
              <a:lnSpc>
                <a:spcPts val="3078"/>
              </a:lnSpc>
              <a:buFont typeface="Arial"/>
              <a:buChar char="•"/>
            </a:pPr>
            <a:r>
              <a:rPr lang="en-US" sz="2198" b="1">
                <a:solidFill>
                  <a:srgbClr val="FFFFFF"/>
                </a:solidFill>
                <a:latin typeface="Garet Bold"/>
                <a:ea typeface="Garet Bold"/>
                <a:cs typeface="Garet Bold"/>
                <a:sym typeface="Garet Bold"/>
              </a:rPr>
              <a:t>GLAD / GLEW:</a:t>
            </a:r>
            <a:r>
              <a:rPr lang="en-US" sz="2198">
                <a:solidFill>
                  <a:srgbClr val="FFFFFF"/>
                </a:solidFill>
                <a:latin typeface="Garet"/>
                <a:ea typeface="Garet"/>
                <a:cs typeface="Garet"/>
                <a:sym typeface="Garet"/>
              </a:rPr>
              <a:t> Extension loading libraries. Essential for accessing modern OpenGL functions (like shaders or modern texture bindings) supported by the graphics card drivers.</a:t>
            </a:r>
          </a:p>
          <a:p>
            <a:pPr marL="474686" lvl="1" indent="-237343" algn="l">
              <a:lnSpc>
                <a:spcPts val="3078"/>
              </a:lnSpc>
              <a:spcBef>
                <a:spcPct val="0"/>
              </a:spcBef>
              <a:buFont typeface="Arial"/>
              <a:buChar char="•"/>
            </a:pPr>
            <a:r>
              <a:rPr lang="en-US" sz="2198" b="1">
                <a:solidFill>
                  <a:srgbClr val="FFFFFF"/>
                </a:solidFill>
                <a:latin typeface="Garet Bold"/>
                <a:ea typeface="Garet Bold"/>
                <a:cs typeface="Garet Bold"/>
                <a:sym typeface="Garet Bold"/>
              </a:rPr>
              <a:t>SOIL / stb_image: </a:t>
            </a:r>
            <a:r>
              <a:rPr lang="en-US" sz="2198">
                <a:solidFill>
                  <a:srgbClr val="FFFFFF"/>
                </a:solidFill>
                <a:latin typeface="Garet"/>
                <a:ea typeface="Garet"/>
                <a:cs typeface="Garet"/>
                <a:sym typeface="Garet"/>
              </a:rPr>
              <a:t>A lightweight C-based library chosen specifically for its hassle-free ability to load .jpg and .png files directly into byte arrays for OpenGL texture generation without adding massive dependencies.</a:t>
            </a:r>
          </a:p>
          <a:p>
            <a:pPr algn="l">
              <a:lnSpc>
                <a:spcPts val="3078"/>
              </a:lnSpc>
              <a:spcBef>
                <a:spcPct val="0"/>
              </a:spcBef>
            </a:pPr>
            <a:endParaRPr lang="en-US" sz="2198">
              <a:solidFill>
                <a:srgbClr val="FFFFFF"/>
              </a:solidFill>
              <a:latin typeface="Garet"/>
              <a:ea typeface="Garet"/>
              <a:cs typeface="Garet"/>
              <a:sym typeface="Garet"/>
            </a:endParaRPr>
          </a:p>
        </p:txBody>
      </p:sp>
      <p:sp>
        <p:nvSpPr>
          <p:cNvPr id="8" name="Freeform 8"/>
          <p:cNvSpPr/>
          <p:nvPr/>
        </p:nvSpPr>
        <p:spPr>
          <a:xfrm rot="3902566">
            <a:off x="11864657" y="-2136341"/>
            <a:ext cx="9249445" cy="6771364"/>
          </a:xfrm>
          <a:custGeom>
            <a:avLst/>
            <a:gdLst/>
            <a:ahLst/>
            <a:cxnLst/>
            <a:rect l="l" t="t" r="r" b="b"/>
            <a:pathLst>
              <a:path w="9249445" h="6771364">
                <a:moveTo>
                  <a:pt x="0" y="0"/>
                </a:moveTo>
                <a:lnTo>
                  <a:pt x="9249445" y="0"/>
                </a:lnTo>
                <a:lnTo>
                  <a:pt x="9249445" y="6771364"/>
                </a:lnTo>
                <a:lnTo>
                  <a:pt x="0" y="6771364"/>
                </a:lnTo>
                <a:lnTo>
                  <a:pt x="0" y="0"/>
                </a:lnTo>
                <a:close/>
              </a:path>
            </a:pathLst>
          </a:custGeom>
          <a:blipFill>
            <a:blip r:embed="rId4"/>
            <a:stretch>
              <a:fillRect/>
            </a:stretch>
          </a:blipFill>
        </p:spPr>
        <p:txBody>
          <a:bodyPr/>
          <a:lstStyle/>
          <a:p>
            <a:endParaRPr lang="ar-EG"/>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444" b="-6444"/>
            </a:stretch>
          </a:blipFill>
        </p:spPr>
        <p:txBody>
          <a:bodyPr/>
          <a:lstStyle/>
          <a:p>
            <a:endParaRPr lang="ar-EG"/>
          </a:p>
        </p:txBody>
      </p:sp>
      <p:sp>
        <p:nvSpPr>
          <p:cNvPr id="3" name="Freeform 3"/>
          <p:cNvSpPr/>
          <p:nvPr/>
        </p:nvSpPr>
        <p:spPr>
          <a:xfrm>
            <a:off x="806000" y="746593"/>
            <a:ext cx="445400" cy="412198"/>
          </a:xfrm>
          <a:custGeom>
            <a:avLst/>
            <a:gdLst/>
            <a:ahLst/>
            <a:cxnLst/>
            <a:rect l="l" t="t" r="r" b="b"/>
            <a:pathLst>
              <a:path w="445400" h="412198">
                <a:moveTo>
                  <a:pt x="0" y="0"/>
                </a:moveTo>
                <a:lnTo>
                  <a:pt x="445400" y="0"/>
                </a:lnTo>
                <a:lnTo>
                  <a:pt x="445400" y="412197"/>
                </a:lnTo>
                <a:lnTo>
                  <a:pt x="0" y="41219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4" name="TextBox 4"/>
          <p:cNvSpPr txBox="1"/>
          <p:nvPr/>
        </p:nvSpPr>
        <p:spPr>
          <a:xfrm>
            <a:off x="3712874" y="2003235"/>
            <a:ext cx="11450045" cy="943423"/>
          </a:xfrm>
          <a:prstGeom prst="rect">
            <a:avLst/>
          </a:prstGeom>
        </p:spPr>
        <p:txBody>
          <a:bodyPr lIns="0" tIns="0" rIns="0" bIns="0" rtlCol="0" anchor="t">
            <a:spAutoFit/>
          </a:bodyPr>
          <a:lstStyle/>
          <a:p>
            <a:pPr algn="ctr">
              <a:lnSpc>
                <a:spcPts val="5782"/>
              </a:lnSpc>
            </a:pPr>
            <a:r>
              <a:rPr lang="en-US" sz="6647" b="1">
                <a:solidFill>
                  <a:srgbClr val="FFFFFF"/>
                </a:solidFill>
                <a:latin typeface="Akzidenz-Grotesk Bold"/>
                <a:ea typeface="Akzidenz-Grotesk Bold"/>
                <a:cs typeface="Akzidenz-Grotesk Bold"/>
                <a:sym typeface="Akzidenz-Grotesk Bold"/>
              </a:rPr>
              <a:t>Complexity &amp; Optimization</a:t>
            </a:r>
          </a:p>
        </p:txBody>
      </p:sp>
      <p:sp>
        <p:nvSpPr>
          <p:cNvPr id="5" name="TextBox 5"/>
          <p:cNvSpPr txBox="1"/>
          <p:nvPr/>
        </p:nvSpPr>
        <p:spPr>
          <a:xfrm>
            <a:off x="1594519" y="813076"/>
            <a:ext cx="4236711" cy="298262"/>
          </a:xfrm>
          <a:prstGeom prst="rect">
            <a:avLst/>
          </a:prstGeom>
        </p:spPr>
        <p:txBody>
          <a:bodyPr lIns="0" tIns="0" rIns="0" bIns="0" rtlCol="0" anchor="t">
            <a:spAutoFit/>
          </a:bodyPr>
          <a:lstStyle/>
          <a:p>
            <a:pPr algn="l">
              <a:lnSpc>
                <a:spcPts val="2460"/>
              </a:lnSpc>
              <a:spcBef>
                <a:spcPct val="0"/>
              </a:spcBef>
            </a:pPr>
            <a:r>
              <a:rPr lang="en-US" sz="1757">
                <a:solidFill>
                  <a:srgbClr val="FFFFFF"/>
                </a:solidFill>
                <a:latin typeface="Garet"/>
                <a:ea typeface="Garet"/>
                <a:cs typeface="Garet"/>
                <a:sym typeface="Garet"/>
              </a:rPr>
              <a:t>Technical Implementation</a:t>
            </a:r>
          </a:p>
        </p:txBody>
      </p:sp>
      <p:sp>
        <p:nvSpPr>
          <p:cNvPr id="6" name="TextBox 6"/>
          <p:cNvSpPr txBox="1"/>
          <p:nvPr/>
        </p:nvSpPr>
        <p:spPr>
          <a:xfrm>
            <a:off x="790001" y="9083964"/>
            <a:ext cx="1303798" cy="298281"/>
          </a:xfrm>
          <a:prstGeom prst="rect">
            <a:avLst/>
          </a:prstGeom>
        </p:spPr>
        <p:txBody>
          <a:bodyPr lIns="0" tIns="0" rIns="0" bIns="0" rtlCol="0" anchor="t">
            <a:spAutoFit/>
          </a:bodyPr>
          <a:lstStyle/>
          <a:p>
            <a:pPr algn="l">
              <a:lnSpc>
                <a:spcPts val="2460"/>
              </a:lnSpc>
              <a:spcBef>
                <a:spcPct val="0"/>
              </a:spcBef>
            </a:pPr>
            <a:r>
              <a:rPr lang="en-US" sz="1757">
                <a:solidFill>
                  <a:srgbClr val="FFFFFF"/>
                </a:solidFill>
                <a:latin typeface="Garet"/>
                <a:ea typeface="Garet"/>
                <a:cs typeface="Garet"/>
                <a:sym typeface="Garet"/>
              </a:rPr>
              <a:t>PAGE 06</a:t>
            </a:r>
          </a:p>
        </p:txBody>
      </p:sp>
      <p:sp>
        <p:nvSpPr>
          <p:cNvPr id="7" name="Freeform 7"/>
          <p:cNvSpPr/>
          <p:nvPr/>
        </p:nvSpPr>
        <p:spPr>
          <a:xfrm flipH="1">
            <a:off x="834391" y="963930"/>
            <a:ext cx="1828238" cy="1701023"/>
          </a:xfrm>
          <a:custGeom>
            <a:avLst/>
            <a:gdLst/>
            <a:ahLst/>
            <a:cxnLst/>
            <a:rect l="l" t="t" r="r" b="b"/>
            <a:pathLst>
              <a:path w="1828238" h="1701023">
                <a:moveTo>
                  <a:pt x="1828239" y="0"/>
                </a:moveTo>
                <a:lnTo>
                  <a:pt x="0" y="0"/>
                </a:lnTo>
                <a:lnTo>
                  <a:pt x="0" y="1701024"/>
                </a:lnTo>
                <a:lnTo>
                  <a:pt x="1828239" y="1701024"/>
                </a:lnTo>
                <a:lnTo>
                  <a:pt x="1828239" y="0"/>
                </a:lnTo>
                <a:close/>
              </a:path>
            </a:pathLst>
          </a:custGeom>
          <a:blipFill>
            <a:blip r:embed="rId4"/>
            <a:stretch>
              <a:fillRect/>
            </a:stretch>
          </a:blipFill>
        </p:spPr>
        <p:txBody>
          <a:bodyPr/>
          <a:lstStyle/>
          <a:p>
            <a:endParaRPr lang="ar-EG"/>
          </a:p>
        </p:txBody>
      </p:sp>
      <p:sp>
        <p:nvSpPr>
          <p:cNvPr id="8" name="Freeform 8"/>
          <p:cNvSpPr/>
          <p:nvPr/>
        </p:nvSpPr>
        <p:spPr>
          <a:xfrm>
            <a:off x="15140811" y="2583658"/>
            <a:ext cx="1819235" cy="1692647"/>
          </a:xfrm>
          <a:custGeom>
            <a:avLst/>
            <a:gdLst/>
            <a:ahLst/>
            <a:cxnLst/>
            <a:rect l="l" t="t" r="r" b="b"/>
            <a:pathLst>
              <a:path w="1819235" h="1692647">
                <a:moveTo>
                  <a:pt x="0" y="0"/>
                </a:moveTo>
                <a:lnTo>
                  <a:pt x="1819235" y="0"/>
                </a:lnTo>
                <a:lnTo>
                  <a:pt x="1819235" y="1692647"/>
                </a:lnTo>
                <a:lnTo>
                  <a:pt x="0" y="1692647"/>
                </a:lnTo>
                <a:lnTo>
                  <a:pt x="0" y="0"/>
                </a:lnTo>
                <a:close/>
              </a:path>
            </a:pathLst>
          </a:custGeom>
          <a:blipFill>
            <a:blip r:embed="rId4"/>
            <a:stretch>
              <a:fillRect/>
            </a:stretch>
          </a:blipFill>
        </p:spPr>
        <p:txBody>
          <a:bodyPr/>
          <a:lstStyle/>
          <a:p>
            <a:endParaRPr lang="ar-EG"/>
          </a:p>
        </p:txBody>
      </p:sp>
      <p:sp>
        <p:nvSpPr>
          <p:cNvPr id="9" name="Freeform 9"/>
          <p:cNvSpPr/>
          <p:nvPr/>
        </p:nvSpPr>
        <p:spPr>
          <a:xfrm flipH="1">
            <a:off x="2265755" y="3475793"/>
            <a:ext cx="2167337" cy="2016527"/>
          </a:xfrm>
          <a:custGeom>
            <a:avLst/>
            <a:gdLst/>
            <a:ahLst/>
            <a:cxnLst/>
            <a:rect l="l" t="t" r="r" b="b"/>
            <a:pathLst>
              <a:path w="2167337" h="2016527">
                <a:moveTo>
                  <a:pt x="2167337" y="0"/>
                </a:moveTo>
                <a:lnTo>
                  <a:pt x="0" y="0"/>
                </a:lnTo>
                <a:lnTo>
                  <a:pt x="0" y="2016526"/>
                </a:lnTo>
                <a:lnTo>
                  <a:pt x="2167337" y="2016526"/>
                </a:lnTo>
                <a:lnTo>
                  <a:pt x="2167337" y="0"/>
                </a:lnTo>
                <a:close/>
              </a:path>
            </a:pathLst>
          </a:custGeom>
          <a:blipFill>
            <a:blip r:embed="rId4"/>
            <a:stretch>
              <a:fillRect/>
            </a:stretch>
          </a:blipFill>
        </p:spPr>
        <p:txBody>
          <a:bodyPr/>
          <a:lstStyle/>
          <a:p>
            <a:endParaRPr lang="ar-EG"/>
          </a:p>
        </p:txBody>
      </p:sp>
      <p:sp>
        <p:nvSpPr>
          <p:cNvPr id="10" name="Freeform 10"/>
          <p:cNvSpPr/>
          <p:nvPr/>
        </p:nvSpPr>
        <p:spPr>
          <a:xfrm>
            <a:off x="14759126" y="5092681"/>
            <a:ext cx="940907" cy="875435"/>
          </a:xfrm>
          <a:custGeom>
            <a:avLst/>
            <a:gdLst/>
            <a:ahLst/>
            <a:cxnLst/>
            <a:rect l="l" t="t" r="r" b="b"/>
            <a:pathLst>
              <a:path w="940907" h="875435">
                <a:moveTo>
                  <a:pt x="0" y="0"/>
                </a:moveTo>
                <a:lnTo>
                  <a:pt x="940907" y="0"/>
                </a:lnTo>
                <a:lnTo>
                  <a:pt x="940907" y="875436"/>
                </a:lnTo>
                <a:lnTo>
                  <a:pt x="0" y="875436"/>
                </a:lnTo>
                <a:lnTo>
                  <a:pt x="0" y="0"/>
                </a:lnTo>
                <a:close/>
              </a:path>
            </a:pathLst>
          </a:custGeom>
          <a:blipFill>
            <a:blip r:embed="rId4"/>
            <a:stretch>
              <a:fillRect/>
            </a:stretch>
          </a:blipFill>
        </p:spPr>
        <p:txBody>
          <a:bodyPr/>
          <a:lstStyle/>
          <a:p>
            <a:endParaRPr lang="ar-EG"/>
          </a:p>
        </p:txBody>
      </p:sp>
      <p:sp>
        <p:nvSpPr>
          <p:cNvPr id="11" name="Freeform 11"/>
          <p:cNvSpPr/>
          <p:nvPr/>
        </p:nvSpPr>
        <p:spPr>
          <a:xfrm>
            <a:off x="18066728" y="3038075"/>
            <a:ext cx="940907" cy="875435"/>
          </a:xfrm>
          <a:custGeom>
            <a:avLst/>
            <a:gdLst/>
            <a:ahLst/>
            <a:cxnLst/>
            <a:rect l="l" t="t" r="r" b="b"/>
            <a:pathLst>
              <a:path w="940907" h="875435">
                <a:moveTo>
                  <a:pt x="0" y="0"/>
                </a:moveTo>
                <a:lnTo>
                  <a:pt x="940907" y="0"/>
                </a:lnTo>
                <a:lnTo>
                  <a:pt x="940907" y="875435"/>
                </a:lnTo>
                <a:lnTo>
                  <a:pt x="0" y="875435"/>
                </a:lnTo>
                <a:lnTo>
                  <a:pt x="0" y="0"/>
                </a:lnTo>
                <a:close/>
              </a:path>
            </a:pathLst>
          </a:custGeom>
          <a:blipFill>
            <a:blip r:embed="rId4"/>
            <a:stretch>
              <a:fillRect/>
            </a:stretch>
          </a:blipFill>
        </p:spPr>
        <p:txBody>
          <a:bodyPr/>
          <a:lstStyle/>
          <a:p>
            <a:endParaRPr lang="ar-EG"/>
          </a:p>
        </p:txBody>
      </p:sp>
      <p:sp>
        <p:nvSpPr>
          <p:cNvPr id="12" name="Freeform 12"/>
          <p:cNvSpPr/>
          <p:nvPr/>
        </p:nvSpPr>
        <p:spPr>
          <a:xfrm flipH="1">
            <a:off x="181798" y="3550715"/>
            <a:ext cx="779854" cy="725589"/>
          </a:xfrm>
          <a:custGeom>
            <a:avLst/>
            <a:gdLst/>
            <a:ahLst/>
            <a:cxnLst/>
            <a:rect l="l" t="t" r="r" b="b"/>
            <a:pathLst>
              <a:path w="779854" h="725589">
                <a:moveTo>
                  <a:pt x="779855" y="0"/>
                </a:moveTo>
                <a:lnTo>
                  <a:pt x="0" y="0"/>
                </a:lnTo>
                <a:lnTo>
                  <a:pt x="0" y="725590"/>
                </a:lnTo>
                <a:lnTo>
                  <a:pt x="779855" y="725590"/>
                </a:lnTo>
                <a:lnTo>
                  <a:pt x="779855" y="0"/>
                </a:lnTo>
                <a:close/>
              </a:path>
            </a:pathLst>
          </a:custGeom>
          <a:blipFill>
            <a:blip r:embed="rId4"/>
            <a:stretch>
              <a:fillRect/>
            </a:stretch>
          </a:blipFill>
        </p:spPr>
        <p:txBody>
          <a:bodyPr/>
          <a:lstStyle/>
          <a:p>
            <a:endParaRPr lang="ar-EG"/>
          </a:p>
        </p:txBody>
      </p:sp>
      <p:sp>
        <p:nvSpPr>
          <p:cNvPr id="13" name="Freeform 13"/>
          <p:cNvSpPr/>
          <p:nvPr/>
        </p:nvSpPr>
        <p:spPr>
          <a:xfrm>
            <a:off x="16280436" y="-1169625"/>
            <a:ext cx="2362731" cy="2198325"/>
          </a:xfrm>
          <a:custGeom>
            <a:avLst/>
            <a:gdLst/>
            <a:ahLst/>
            <a:cxnLst/>
            <a:rect l="l" t="t" r="r" b="b"/>
            <a:pathLst>
              <a:path w="2362731" h="2198325">
                <a:moveTo>
                  <a:pt x="0" y="0"/>
                </a:moveTo>
                <a:lnTo>
                  <a:pt x="2362731" y="0"/>
                </a:lnTo>
                <a:lnTo>
                  <a:pt x="2362731" y="2198325"/>
                </a:lnTo>
                <a:lnTo>
                  <a:pt x="0" y="2198325"/>
                </a:lnTo>
                <a:lnTo>
                  <a:pt x="0" y="0"/>
                </a:lnTo>
                <a:close/>
              </a:path>
            </a:pathLst>
          </a:custGeom>
          <a:blipFill>
            <a:blip r:embed="rId4"/>
            <a:stretch>
              <a:fillRect/>
            </a:stretch>
          </a:blipFill>
        </p:spPr>
        <p:txBody>
          <a:bodyPr/>
          <a:lstStyle/>
          <a:p>
            <a:endParaRPr lang="ar-EG"/>
          </a:p>
        </p:txBody>
      </p:sp>
      <p:sp>
        <p:nvSpPr>
          <p:cNvPr id="14" name="Freeform 14"/>
          <p:cNvSpPr/>
          <p:nvPr/>
        </p:nvSpPr>
        <p:spPr>
          <a:xfrm flipH="1">
            <a:off x="1974581" y="-362795"/>
            <a:ext cx="779854" cy="725589"/>
          </a:xfrm>
          <a:custGeom>
            <a:avLst/>
            <a:gdLst/>
            <a:ahLst/>
            <a:cxnLst/>
            <a:rect l="l" t="t" r="r" b="b"/>
            <a:pathLst>
              <a:path w="779854" h="725589">
                <a:moveTo>
                  <a:pt x="779854" y="0"/>
                </a:moveTo>
                <a:lnTo>
                  <a:pt x="0" y="0"/>
                </a:lnTo>
                <a:lnTo>
                  <a:pt x="0" y="725590"/>
                </a:lnTo>
                <a:lnTo>
                  <a:pt x="779854" y="725590"/>
                </a:lnTo>
                <a:lnTo>
                  <a:pt x="779854" y="0"/>
                </a:lnTo>
                <a:close/>
              </a:path>
            </a:pathLst>
          </a:custGeom>
          <a:blipFill>
            <a:blip r:embed="rId4"/>
            <a:stretch>
              <a:fillRect/>
            </a:stretch>
          </a:blipFill>
        </p:spPr>
        <p:txBody>
          <a:bodyPr/>
          <a:lstStyle/>
          <a:p>
            <a:endParaRPr lang="ar-EG"/>
          </a:p>
        </p:txBody>
      </p:sp>
      <p:sp>
        <p:nvSpPr>
          <p:cNvPr id="15" name="TextBox 15"/>
          <p:cNvSpPr txBox="1"/>
          <p:nvPr/>
        </p:nvSpPr>
        <p:spPr>
          <a:xfrm>
            <a:off x="2852681" y="3498601"/>
            <a:ext cx="12102581" cy="5059080"/>
          </a:xfrm>
          <a:prstGeom prst="rect">
            <a:avLst/>
          </a:prstGeom>
        </p:spPr>
        <p:txBody>
          <a:bodyPr lIns="0" tIns="0" rIns="0" bIns="0" rtlCol="0" anchor="t">
            <a:spAutoFit/>
          </a:bodyPr>
          <a:lstStyle/>
          <a:p>
            <a:pPr marL="474686" lvl="1" indent="-237343" algn="l">
              <a:lnSpc>
                <a:spcPts val="3078"/>
              </a:lnSpc>
              <a:buFont typeface="Arial"/>
              <a:buChar char="•"/>
            </a:pPr>
            <a:r>
              <a:rPr lang="en-US" sz="2198" b="1">
                <a:solidFill>
                  <a:srgbClr val="FFFFFF"/>
                </a:solidFill>
                <a:latin typeface="Garet Bold"/>
                <a:ea typeface="Garet Bold"/>
                <a:cs typeface="Garet Bold"/>
                <a:sym typeface="Garet Bold"/>
              </a:rPr>
              <a:t>State Management Machine:</a:t>
            </a:r>
            <a:r>
              <a:rPr lang="en-US" sz="2198">
                <a:solidFill>
                  <a:srgbClr val="FFFFFF"/>
                </a:solidFill>
                <a:latin typeface="Garet"/>
                <a:ea typeface="Garet"/>
                <a:cs typeface="Garet"/>
                <a:sym typeface="Garet"/>
              </a:rPr>
              <a:t> OpenGL acts as a massive state machine. We had to carefully manage when to bind textures, when to enable/disable lighting, and when to push/pop matrices. Doing this inefficiently results in visual bugs (e.g., the Sun accidentally receiving Earth's texture).</a:t>
            </a:r>
          </a:p>
          <a:p>
            <a:pPr marL="474686" lvl="1" indent="-237343" algn="l">
              <a:lnSpc>
                <a:spcPts val="3078"/>
              </a:lnSpc>
              <a:buFont typeface="Arial"/>
              <a:buChar char="•"/>
            </a:pPr>
            <a:r>
              <a:rPr lang="en-US" sz="2198" b="1">
                <a:solidFill>
                  <a:srgbClr val="FFFFFF"/>
                </a:solidFill>
                <a:latin typeface="Garet Bold"/>
                <a:ea typeface="Garet Bold"/>
                <a:cs typeface="Garet Bold"/>
                <a:sym typeface="Garet Bold"/>
              </a:rPr>
              <a:t>Z-Buffering (Depth Testing):</a:t>
            </a:r>
            <a:r>
              <a:rPr lang="en-US" sz="2198">
                <a:solidFill>
                  <a:srgbClr val="FFFFFF"/>
                </a:solidFill>
                <a:latin typeface="Garet"/>
                <a:ea typeface="Garet"/>
                <a:cs typeface="Garet"/>
                <a:sym typeface="Garet"/>
              </a:rPr>
              <a:t> Crucial for a 3D scene. We enabled GL_DEPTH_TEST so that OpenGL automatically calculates which pixels are closest to the camera, ensuring that a moon passing behind a planet is correctly obscured, rather than drawn on top of it.</a:t>
            </a:r>
          </a:p>
          <a:p>
            <a:pPr marL="474686" lvl="1" indent="-237343" algn="l">
              <a:lnSpc>
                <a:spcPts val="3078"/>
              </a:lnSpc>
              <a:spcBef>
                <a:spcPct val="0"/>
              </a:spcBef>
              <a:buFont typeface="Arial"/>
              <a:buChar char="•"/>
            </a:pPr>
            <a:r>
              <a:rPr lang="en-US" sz="2198" b="1">
                <a:solidFill>
                  <a:srgbClr val="FFFFFF"/>
                </a:solidFill>
                <a:latin typeface="Garet Bold"/>
                <a:ea typeface="Garet Bold"/>
                <a:cs typeface="Garet Bold"/>
                <a:sym typeface="Garet Bold"/>
              </a:rPr>
              <a:t>Ensuring Smooth Performance:</a:t>
            </a:r>
            <a:r>
              <a:rPr lang="en-US" sz="2198">
                <a:solidFill>
                  <a:srgbClr val="FFFFFF"/>
                </a:solidFill>
                <a:latin typeface="Garet"/>
                <a:ea typeface="Garet"/>
                <a:cs typeface="Garet"/>
                <a:sym typeface="Garet"/>
              </a:rPr>
              <a:t> Managing multiple objects required careful architecture. By structuring the rendering loop efficiently and keeping our matrix stack shallow, we ensured that calculating the position of dozens of celestial bodies only required minimal matrix multiplications, saving CPU cycles.</a:t>
            </a:r>
          </a:p>
          <a:p>
            <a:pPr algn="l">
              <a:lnSpc>
                <a:spcPts val="3078"/>
              </a:lnSpc>
              <a:spcBef>
                <a:spcPct val="0"/>
              </a:spcBef>
            </a:pPr>
            <a:endParaRPr lang="en-US" sz="2198">
              <a:solidFill>
                <a:srgbClr val="FFFFFF"/>
              </a:solidFill>
              <a:latin typeface="Garet"/>
              <a:ea typeface="Garet"/>
              <a:cs typeface="Garet"/>
              <a:sym typeface="Garet"/>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ar-EG"/>
          </a:p>
        </p:txBody>
      </p:sp>
      <p:sp>
        <p:nvSpPr>
          <p:cNvPr id="3" name="Freeform 3"/>
          <p:cNvSpPr/>
          <p:nvPr/>
        </p:nvSpPr>
        <p:spPr>
          <a:xfrm>
            <a:off x="-2508512" y="2751132"/>
            <a:ext cx="6161913" cy="8229600"/>
          </a:xfrm>
          <a:custGeom>
            <a:avLst/>
            <a:gdLst/>
            <a:ahLst/>
            <a:cxnLst/>
            <a:rect l="l" t="t" r="r" b="b"/>
            <a:pathLst>
              <a:path w="6161913" h="8229600">
                <a:moveTo>
                  <a:pt x="0" y="0"/>
                </a:moveTo>
                <a:lnTo>
                  <a:pt x="6161913" y="0"/>
                </a:lnTo>
                <a:lnTo>
                  <a:pt x="6161913" y="8229600"/>
                </a:lnTo>
                <a:lnTo>
                  <a:pt x="0" y="8229600"/>
                </a:lnTo>
                <a:lnTo>
                  <a:pt x="0" y="0"/>
                </a:lnTo>
                <a:close/>
              </a:path>
            </a:pathLst>
          </a:custGeom>
          <a:blipFill>
            <a:blip r:embed="rId3">
              <a:alphaModFix amt="25000"/>
            </a:blip>
            <a:stretch>
              <a:fillRect/>
            </a:stretch>
          </a:blipFill>
        </p:spPr>
        <p:txBody>
          <a:bodyPr/>
          <a:lstStyle/>
          <a:p>
            <a:endParaRPr lang="ar-EG"/>
          </a:p>
        </p:txBody>
      </p:sp>
      <p:sp>
        <p:nvSpPr>
          <p:cNvPr id="4" name="Freeform 4"/>
          <p:cNvSpPr/>
          <p:nvPr/>
        </p:nvSpPr>
        <p:spPr>
          <a:xfrm>
            <a:off x="806000" y="746593"/>
            <a:ext cx="445400" cy="412198"/>
          </a:xfrm>
          <a:custGeom>
            <a:avLst/>
            <a:gdLst/>
            <a:ahLst/>
            <a:cxnLst/>
            <a:rect l="l" t="t" r="r" b="b"/>
            <a:pathLst>
              <a:path w="445400" h="412198">
                <a:moveTo>
                  <a:pt x="0" y="0"/>
                </a:moveTo>
                <a:lnTo>
                  <a:pt x="445400" y="0"/>
                </a:lnTo>
                <a:lnTo>
                  <a:pt x="445400" y="412197"/>
                </a:lnTo>
                <a:lnTo>
                  <a:pt x="0" y="4121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5" name="Freeform 5"/>
          <p:cNvSpPr/>
          <p:nvPr/>
        </p:nvSpPr>
        <p:spPr>
          <a:xfrm>
            <a:off x="-1151044" y="3486150"/>
            <a:ext cx="4807794" cy="4114800"/>
          </a:xfrm>
          <a:custGeom>
            <a:avLst/>
            <a:gdLst/>
            <a:ahLst/>
            <a:cxnLst/>
            <a:rect l="l" t="t" r="r" b="b"/>
            <a:pathLst>
              <a:path w="4807794" h="4114800">
                <a:moveTo>
                  <a:pt x="0" y="0"/>
                </a:moveTo>
                <a:lnTo>
                  <a:pt x="4807793" y="0"/>
                </a:lnTo>
                <a:lnTo>
                  <a:pt x="4807793"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6" name="TextBox 6"/>
          <p:cNvSpPr txBox="1"/>
          <p:nvPr/>
        </p:nvSpPr>
        <p:spPr>
          <a:xfrm>
            <a:off x="1594519" y="794026"/>
            <a:ext cx="4233390" cy="522418"/>
          </a:xfrm>
          <a:prstGeom prst="rect">
            <a:avLst/>
          </a:prstGeom>
        </p:spPr>
        <p:txBody>
          <a:bodyPr lIns="0" tIns="0" rIns="0" bIns="0" rtlCol="0" anchor="t">
            <a:spAutoFit/>
          </a:bodyPr>
          <a:lstStyle/>
          <a:p>
            <a:pPr algn="l">
              <a:lnSpc>
                <a:spcPts val="4280"/>
              </a:lnSpc>
              <a:spcBef>
                <a:spcPct val="0"/>
              </a:spcBef>
            </a:pPr>
            <a:r>
              <a:rPr lang="en-US" sz="3057" b="1">
                <a:solidFill>
                  <a:srgbClr val="FFFFFF"/>
                </a:solidFill>
                <a:latin typeface="Garet Bold"/>
                <a:ea typeface="Garet Bold"/>
                <a:cs typeface="Garet Bold"/>
                <a:sym typeface="Garet Bold"/>
              </a:rPr>
              <a:t>Team Contribution</a:t>
            </a:r>
          </a:p>
        </p:txBody>
      </p:sp>
      <p:sp>
        <p:nvSpPr>
          <p:cNvPr id="7" name="TextBox 7"/>
          <p:cNvSpPr txBox="1"/>
          <p:nvPr/>
        </p:nvSpPr>
        <p:spPr>
          <a:xfrm>
            <a:off x="790001" y="9083964"/>
            <a:ext cx="1303798" cy="298281"/>
          </a:xfrm>
          <a:prstGeom prst="rect">
            <a:avLst/>
          </a:prstGeom>
        </p:spPr>
        <p:txBody>
          <a:bodyPr lIns="0" tIns="0" rIns="0" bIns="0" rtlCol="0" anchor="t">
            <a:spAutoFit/>
          </a:bodyPr>
          <a:lstStyle/>
          <a:p>
            <a:pPr algn="l">
              <a:lnSpc>
                <a:spcPts val="2460"/>
              </a:lnSpc>
              <a:spcBef>
                <a:spcPct val="0"/>
              </a:spcBef>
            </a:pPr>
            <a:r>
              <a:rPr lang="en-US" sz="1757">
                <a:solidFill>
                  <a:srgbClr val="FFFFFF"/>
                </a:solidFill>
                <a:latin typeface="Garet"/>
                <a:ea typeface="Garet"/>
                <a:cs typeface="Garet"/>
                <a:sym typeface="Garet"/>
              </a:rPr>
              <a:t>PAGE 10</a:t>
            </a:r>
          </a:p>
        </p:txBody>
      </p:sp>
      <p:sp>
        <p:nvSpPr>
          <p:cNvPr id="8" name="Freeform 8"/>
          <p:cNvSpPr/>
          <p:nvPr/>
        </p:nvSpPr>
        <p:spPr>
          <a:xfrm rot="-5466850">
            <a:off x="15884103" y="2906623"/>
            <a:ext cx="4807794" cy="4114800"/>
          </a:xfrm>
          <a:custGeom>
            <a:avLst/>
            <a:gdLst/>
            <a:ahLst/>
            <a:cxnLst/>
            <a:rect l="l" t="t" r="r" b="b"/>
            <a:pathLst>
              <a:path w="4807794" h="4114800">
                <a:moveTo>
                  <a:pt x="0" y="0"/>
                </a:moveTo>
                <a:lnTo>
                  <a:pt x="4807794" y="0"/>
                </a:lnTo>
                <a:lnTo>
                  <a:pt x="4807794"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9" name="TextBox 9"/>
          <p:cNvSpPr txBox="1"/>
          <p:nvPr/>
        </p:nvSpPr>
        <p:spPr>
          <a:xfrm>
            <a:off x="1028700" y="2119873"/>
            <a:ext cx="6960036" cy="780278"/>
          </a:xfrm>
          <a:prstGeom prst="rect">
            <a:avLst/>
          </a:prstGeom>
        </p:spPr>
        <p:txBody>
          <a:bodyPr lIns="0" tIns="0" rIns="0" bIns="0" rtlCol="0" anchor="t">
            <a:spAutoFit/>
          </a:bodyPr>
          <a:lstStyle/>
          <a:p>
            <a:pPr marL="474686" lvl="1" indent="-237343" algn="l">
              <a:lnSpc>
                <a:spcPts val="3078"/>
              </a:lnSpc>
              <a:buFont typeface="Arial"/>
              <a:buChar char="•"/>
            </a:pPr>
            <a:r>
              <a:rPr lang="en-US" sz="2198" b="1" dirty="0">
                <a:solidFill>
                  <a:srgbClr val="FFFFFF"/>
                </a:solidFill>
                <a:latin typeface="Garet Bold"/>
                <a:ea typeface="Garet Bold"/>
                <a:cs typeface="Garet Bold"/>
                <a:sym typeface="Garet Bold"/>
              </a:rPr>
              <a:t>Ahmed Mohamed Refaat  | 692400154 | C2</a:t>
            </a:r>
          </a:p>
          <a:p>
            <a:pPr algn="l">
              <a:lnSpc>
                <a:spcPts val="3078"/>
              </a:lnSpc>
              <a:spcBef>
                <a:spcPct val="0"/>
              </a:spcBef>
            </a:pPr>
            <a:r>
              <a:rPr lang="en-US" sz="2198" b="1" dirty="0">
                <a:solidFill>
                  <a:srgbClr val="FFFFFF"/>
                </a:solidFill>
                <a:latin typeface="Garet Bold"/>
                <a:ea typeface="Garet Bold"/>
                <a:cs typeface="Garet Bold"/>
                <a:sym typeface="Garet Bold"/>
              </a:rPr>
              <a:t>                 The Solar System + Movements</a:t>
            </a:r>
          </a:p>
        </p:txBody>
      </p:sp>
      <p:sp>
        <p:nvSpPr>
          <p:cNvPr id="10" name="TextBox 10"/>
          <p:cNvSpPr txBox="1"/>
          <p:nvPr/>
        </p:nvSpPr>
        <p:spPr>
          <a:xfrm>
            <a:off x="1028700" y="4200719"/>
            <a:ext cx="6960036" cy="763305"/>
          </a:xfrm>
          <a:prstGeom prst="rect">
            <a:avLst/>
          </a:prstGeom>
        </p:spPr>
        <p:txBody>
          <a:bodyPr lIns="0" tIns="0" rIns="0" bIns="0" rtlCol="0" anchor="t">
            <a:spAutoFit/>
          </a:bodyPr>
          <a:lstStyle/>
          <a:p>
            <a:pPr marL="474686" lvl="1" indent="-237343" algn="l">
              <a:lnSpc>
                <a:spcPts val="3078"/>
              </a:lnSpc>
              <a:buFont typeface="Arial"/>
              <a:buChar char="•"/>
            </a:pPr>
            <a:r>
              <a:rPr lang="en-US" sz="2198" b="1">
                <a:solidFill>
                  <a:srgbClr val="FFFFFF"/>
                </a:solidFill>
                <a:latin typeface="Garet Bold"/>
                <a:ea typeface="Garet Bold"/>
                <a:cs typeface="Garet Bold"/>
                <a:sym typeface="Garet Bold"/>
              </a:rPr>
              <a:t>Noura Maher Mohamed  |  692400276 | C3</a:t>
            </a:r>
          </a:p>
          <a:p>
            <a:pPr algn="l">
              <a:lnSpc>
                <a:spcPts val="3078"/>
              </a:lnSpc>
              <a:spcBef>
                <a:spcPct val="0"/>
              </a:spcBef>
            </a:pPr>
            <a:r>
              <a:rPr lang="en-US" sz="2198" b="1">
                <a:solidFill>
                  <a:srgbClr val="FFFFFF"/>
                </a:solidFill>
                <a:latin typeface="Garet Bold"/>
                <a:ea typeface="Garet Bold"/>
                <a:cs typeface="Garet Bold"/>
                <a:sym typeface="Garet Bold"/>
              </a:rPr>
              <a:t>                  Mars, Meteors, and Camera</a:t>
            </a:r>
          </a:p>
        </p:txBody>
      </p:sp>
      <p:sp>
        <p:nvSpPr>
          <p:cNvPr id="11" name="TextBox 11"/>
          <p:cNvSpPr txBox="1"/>
          <p:nvPr/>
        </p:nvSpPr>
        <p:spPr>
          <a:xfrm>
            <a:off x="9803595" y="4200719"/>
            <a:ext cx="6960036" cy="763305"/>
          </a:xfrm>
          <a:prstGeom prst="rect">
            <a:avLst/>
          </a:prstGeom>
        </p:spPr>
        <p:txBody>
          <a:bodyPr lIns="0" tIns="0" rIns="0" bIns="0" rtlCol="0" anchor="t">
            <a:spAutoFit/>
          </a:bodyPr>
          <a:lstStyle/>
          <a:p>
            <a:pPr marL="474686" lvl="1" indent="-237343" algn="l">
              <a:lnSpc>
                <a:spcPts val="3078"/>
              </a:lnSpc>
              <a:buFont typeface="Arial"/>
              <a:buChar char="•"/>
            </a:pPr>
            <a:r>
              <a:rPr lang="en-US" sz="2198" b="1">
                <a:solidFill>
                  <a:srgbClr val="FFFFFF"/>
                </a:solidFill>
                <a:latin typeface="Garet Bold"/>
                <a:ea typeface="Garet Bold"/>
                <a:cs typeface="Garet Bold"/>
                <a:sym typeface="Garet Bold"/>
              </a:rPr>
              <a:t>Ferial Mohamed Saed  |  692400369  | C4</a:t>
            </a:r>
          </a:p>
          <a:p>
            <a:pPr algn="l">
              <a:lnSpc>
                <a:spcPts val="3078"/>
              </a:lnSpc>
              <a:spcBef>
                <a:spcPct val="0"/>
              </a:spcBef>
            </a:pPr>
            <a:r>
              <a:rPr lang="en-US" sz="2198" b="1">
                <a:solidFill>
                  <a:srgbClr val="FFFFFF"/>
                </a:solidFill>
                <a:latin typeface="Garet Bold"/>
                <a:ea typeface="Garet Bold"/>
                <a:cs typeface="Garet Bold"/>
                <a:sym typeface="Garet Bold"/>
              </a:rPr>
              <a:t>                 Venus, Jupiter, and Collision</a:t>
            </a:r>
          </a:p>
        </p:txBody>
      </p:sp>
      <p:sp>
        <p:nvSpPr>
          <p:cNvPr id="12" name="TextBox 12"/>
          <p:cNvSpPr txBox="1"/>
          <p:nvPr/>
        </p:nvSpPr>
        <p:spPr>
          <a:xfrm>
            <a:off x="9307927" y="2119873"/>
            <a:ext cx="7951373" cy="763305"/>
          </a:xfrm>
          <a:prstGeom prst="rect">
            <a:avLst/>
          </a:prstGeom>
        </p:spPr>
        <p:txBody>
          <a:bodyPr lIns="0" tIns="0" rIns="0" bIns="0" rtlCol="0" anchor="t">
            <a:spAutoFit/>
          </a:bodyPr>
          <a:lstStyle/>
          <a:p>
            <a:pPr marL="474686" lvl="1" indent="-237343" algn="l">
              <a:lnSpc>
                <a:spcPts val="3078"/>
              </a:lnSpc>
              <a:buFont typeface="Arial"/>
              <a:buChar char="•"/>
            </a:pPr>
            <a:r>
              <a:rPr lang="en-US" sz="2198" b="1">
                <a:solidFill>
                  <a:srgbClr val="FFFFFF"/>
                </a:solidFill>
                <a:latin typeface="Garet Bold"/>
                <a:ea typeface="Garet Bold"/>
                <a:cs typeface="Garet Bold"/>
                <a:sym typeface="Garet Bold"/>
              </a:rPr>
              <a:t> Ebrahim Yussif Ebrahim  |  692400174  |  C4</a:t>
            </a:r>
          </a:p>
          <a:p>
            <a:pPr algn="l">
              <a:lnSpc>
                <a:spcPts val="3078"/>
              </a:lnSpc>
              <a:spcBef>
                <a:spcPct val="0"/>
              </a:spcBef>
            </a:pPr>
            <a:r>
              <a:rPr lang="en-US" sz="2198" b="1">
                <a:solidFill>
                  <a:srgbClr val="FFFFFF"/>
                </a:solidFill>
                <a:latin typeface="Garet Bold"/>
                <a:ea typeface="Garet Bold"/>
                <a:cs typeface="Garet Bold"/>
                <a:sym typeface="Garet Bold"/>
              </a:rPr>
              <a:t> Earth, Asteroids, and controlling the PlayStation arm</a:t>
            </a:r>
          </a:p>
        </p:txBody>
      </p:sp>
      <p:sp>
        <p:nvSpPr>
          <p:cNvPr id="13" name="TextBox 13"/>
          <p:cNvSpPr txBox="1"/>
          <p:nvPr/>
        </p:nvSpPr>
        <p:spPr>
          <a:xfrm>
            <a:off x="1251400" y="6102628"/>
            <a:ext cx="7465860" cy="780278"/>
          </a:xfrm>
          <a:prstGeom prst="rect">
            <a:avLst/>
          </a:prstGeom>
        </p:spPr>
        <p:txBody>
          <a:bodyPr lIns="0" tIns="0" rIns="0" bIns="0" rtlCol="0" anchor="t">
            <a:spAutoFit/>
          </a:bodyPr>
          <a:lstStyle/>
          <a:p>
            <a:pPr marL="474686" lvl="1" indent="-237343" algn="l">
              <a:lnSpc>
                <a:spcPts val="3078"/>
              </a:lnSpc>
              <a:buFont typeface="Arial"/>
              <a:buChar char="•"/>
            </a:pPr>
            <a:r>
              <a:rPr lang="en-US" sz="2198" b="1" dirty="0">
                <a:solidFill>
                  <a:srgbClr val="FFFFFF"/>
                </a:solidFill>
                <a:latin typeface="Garet Bold"/>
                <a:ea typeface="Garet Bold"/>
                <a:cs typeface="Garet Bold"/>
                <a:sym typeface="Garet Bold"/>
              </a:rPr>
              <a:t>Noha Mohamed Hamdi  |  692400012 | C3</a:t>
            </a:r>
          </a:p>
          <a:p>
            <a:pPr algn="l">
              <a:lnSpc>
                <a:spcPts val="3078"/>
              </a:lnSpc>
              <a:spcBef>
                <a:spcPct val="0"/>
              </a:spcBef>
            </a:pPr>
            <a:r>
              <a:rPr lang="en-US" sz="2198" b="1" dirty="0">
                <a:solidFill>
                  <a:srgbClr val="FFFFFF"/>
                </a:solidFill>
                <a:latin typeface="Garet Bold"/>
                <a:ea typeface="Garet Bold"/>
                <a:cs typeface="Garet Bold"/>
                <a:sym typeface="Garet Bold"/>
              </a:rPr>
              <a:t>                               Neptune and Mercury</a:t>
            </a:r>
          </a:p>
        </p:txBody>
      </p:sp>
      <p:sp>
        <p:nvSpPr>
          <p:cNvPr id="14" name="TextBox 14"/>
          <p:cNvSpPr txBox="1"/>
          <p:nvPr/>
        </p:nvSpPr>
        <p:spPr>
          <a:xfrm>
            <a:off x="9793440" y="6102628"/>
            <a:ext cx="7465860" cy="763305"/>
          </a:xfrm>
          <a:prstGeom prst="rect">
            <a:avLst/>
          </a:prstGeom>
        </p:spPr>
        <p:txBody>
          <a:bodyPr lIns="0" tIns="0" rIns="0" bIns="0" rtlCol="0" anchor="t">
            <a:spAutoFit/>
          </a:bodyPr>
          <a:lstStyle/>
          <a:p>
            <a:pPr marL="474686" lvl="1" indent="-237343" algn="l">
              <a:lnSpc>
                <a:spcPts val="3078"/>
              </a:lnSpc>
              <a:buFont typeface="Arial"/>
              <a:buChar char="•"/>
            </a:pPr>
            <a:r>
              <a:rPr lang="en-US" sz="2198" b="1">
                <a:solidFill>
                  <a:srgbClr val="FFFFFF"/>
                </a:solidFill>
                <a:latin typeface="Garet Bold"/>
                <a:ea typeface="Garet Bold"/>
                <a:cs typeface="Garet Bold"/>
                <a:sym typeface="Garet Bold"/>
              </a:rPr>
              <a:t>Mohamed Yehia Abdelhamid |  692400354 | C1</a:t>
            </a:r>
          </a:p>
          <a:p>
            <a:pPr algn="l">
              <a:lnSpc>
                <a:spcPts val="3078"/>
              </a:lnSpc>
              <a:spcBef>
                <a:spcPct val="0"/>
              </a:spcBef>
            </a:pPr>
            <a:r>
              <a:rPr lang="en-US" sz="2198" b="1">
                <a:solidFill>
                  <a:srgbClr val="FFFFFF"/>
                </a:solidFill>
                <a:latin typeface="Garet Bold"/>
                <a:ea typeface="Garet Bold"/>
                <a:cs typeface="Garet Bold"/>
                <a:sym typeface="Garet Bold"/>
              </a:rPr>
              <a:t>                                               Uranus</a:t>
            </a:r>
          </a:p>
        </p:txBody>
      </p:sp>
      <p:sp>
        <p:nvSpPr>
          <p:cNvPr id="15" name="TextBox 15"/>
          <p:cNvSpPr txBox="1"/>
          <p:nvPr/>
        </p:nvSpPr>
        <p:spPr>
          <a:xfrm>
            <a:off x="5411070" y="8180382"/>
            <a:ext cx="7465860" cy="763305"/>
          </a:xfrm>
          <a:prstGeom prst="rect">
            <a:avLst/>
          </a:prstGeom>
        </p:spPr>
        <p:txBody>
          <a:bodyPr lIns="0" tIns="0" rIns="0" bIns="0" rtlCol="0" anchor="t">
            <a:spAutoFit/>
          </a:bodyPr>
          <a:lstStyle/>
          <a:p>
            <a:pPr marL="474686" lvl="1" indent="-237343" algn="l">
              <a:lnSpc>
                <a:spcPts val="3078"/>
              </a:lnSpc>
              <a:buFont typeface="Arial"/>
              <a:buChar char="•"/>
            </a:pPr>
            <a:r>
              <a:rPr lang="en-US" sz="2198" b="1">
                <a:solidFill>
                  <a:srgbClr val="FFFFFF"/>
                </a:solidFill>
                <a:latin typeface="Garet Bold"/>
                <a:ea typeface="Garet Bold"/>
                <a:cs typeface="Garet Bold"/>
                <a:sym typeface="Garet Bold"/>
              </a:rPr>
              <a:t>Ahmed Yousry Tagelmoulok  |  692400354 | C1</a:t>
            </a:r>
          </a:p>
          <a:p>
            <a:pPr algn="l">
              <a:lnSpc>
                <a:spcPts val="3078"/>
              </a:lnSpc>
              <a:spcBef>
                <a:spcPct val="0"/>
              </a:spcBef>
            </a:pPr>
            <a:r>
              <a:rPr lang="en-US" sz="2198" b="1">
                <a:solidFill>
                  <a:srgbClr val="FFFFFF"/>
                </a:solidFill>
                <a:latin typeface="Garet Bold"/>
                <a:ea typeface="Garet Bold"/>
                <a:cs typeface="Garet Bold"/>
                <a:sym typeface="Garet Bold"/>
              </a:rPr>
              <a:t>                                               Saturn</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pPr lvl="0" algn="ctr">
              <a:lnSpc>
                <a:spcPts val="4480"/>
              </a:lnSpc>
              <a:spcBef>
                <a:spcPct val="0"/>
              </a:spcBef>
            </a:pPr>
            <a:endParaRPr lang="en-US" sz="4000" i="1" dirty="0">
              <a:solidFill>
                <a:srgbClr val="FFFFFF"/>
              </a:solidFill>
              <a:latin typeface="DM Sans Bold Italics"/>
              <a:ea typeface="DM Sans Bold Italics"/>
              <a:cs typeface="DM Sans Bold Italics"/>
              <a:sym typeface="DM Sans Bold Italics"/>
            </a:endParaRPr>
          </a:p>
        </p:txBody>
      </p:sp>
      <p:sp>
        <p:nvSpPr>
          <p:cNvPr id="3" name="TextBox 3"/>
          <p:cNvSpPr txBox="1"/>
          <p:nvPr/>
        </p:nvSpPr>
        <p:spPr>
          <a:xfrm>
            <a:off x="2872348" y="6184717"/>
            <a:ext cx="1716133" cy="547296"/>
          </a:xfrm>
          <a:prstGeom prst="rect">
            <a:avLst/>
          </a:prstGeom>
        </p:spPr>
        <p:txBody>
          <a:bodyPr wrap="square" lIns="0" tIns="0" rIns="0" bIns="0" rtlCol="0" anchor="t">
            <a:spAutoFit/>
          </a:bodyPr>
          <a:lstStyle/>
          <a:p>
            <a:pPr algn="ctr">
              <a:lnSpc>
                <a:spcPts val="4480"/>
              </a:lnSpc>
              <a:spcBef>
                <a:spcPct val="0"/>
              </a:spcBef>
            </a:pPr>
            <a:r>
              <a:rPr lang="en-US" sz="3200" b="1" i="1" dirty="0">
                <a:solidFill>
                  <a:srgbClr val="FFFFFF"/>
                </a:solidFill>
                <a:latin typeface="DM Sans Bold Italics"/>
                <a:ea typeface="DM Sans Bold Italics"/>
                <a:cs typeface="DM Sans Bold Italics"/>
                <a:sym typeface="DM Sans Bold Italics"/>
              </a:rPr>
              <a:t>Mercury</a:t>
            </a:r>
          </a:p>
        </p:txBody>
      </p:sp>
      <p:sp>
        <p:nvSpPr>
          <p:cNvPr id="4" name="TextBox 4"/>
          <p:cNvSpPr txBox="1"/>
          <p:nvPr/>
        </p:nvSpPr>
        <p:spPr>
          <a:xfrm>
            <a:off x="4241402" y="8611956"/>
            <a:ext cx="1330788" cy="547296"/>
          </a:xfrm>
          <a:prstGeom prst="rect">
            <a:avLst/>
          </a:prstGeom>
        </p:spPr>
        <p:txBody>
          <a:bodyPr wrap="square" lIns="0" tIns="0" rIns="0" bIns="0" rtlCol="0" anchor="t">
            <a:spAutoFit/>
          </a:bodyPr>
          <a:lstStyle/>
          <a:p>
            <a:pPr marL="0" lvl="0" indent="0" algn="ctr">
              <a:lnSpc>
                <a:spcPts val="4480"/>
              </a:lnSpc>
              <a:spcBef>
                <a:spcPct val="0"/>
              </a:spcBef>
            </a:pPr>
            <a:r>
              <a:rPr lang="en-US" sz="3200" b="1" i="1" u="none" strike="noStrike" dirty="0">
                <a:solidFill>
                  <a:srgbClr val="FFFFFF"/>
                </a:solidFill>
                <a:latin typeface="DM Sans Bold Italics"/>
                <a:ea typeface="DM Sans Bold Italics"/>
                <a:cs typeface="DM Sans Bold Italics"/>
                <a:sym typeface="DM Sans Bold Italics"/>
              </a:rPr>
              <a:t>Venus</a:t>
            </a:r>
          </a:p>
        </p:txBody>
      </p:sp>
      <p:sp>
        <p:nvSpPr>
          <p:cNvPr id="5" name="TextBox 5"/>
          <p:cNvSpPr txBox="1"/>
          <p:nvPr/>
        </p:nvSpPr>
        <p:spPr>
          <a:xfrm>
            <a:off x="6810590" y="7584614"/>
            <a:ext cx="974452" cy="547296"/>
          </a:xfrm>
          <a:prstGeom prst="rect">
            <a:avLst/>
          </a:prstGeom>
        </p:spPr>
        <p:txBody>
          <a:bodyPr lIns="0" tIns="0" rIns="0" bIns="0" rtlCol="0" anchor="t">
            <a:spAutoFit/>
          </a:bodyPr>
          <a:lstStyle/>
          <a:p>
            <a:pPr marL="0" lvl="0" indent="0" algn="ctr">
              <a:lnSpc>
                <a:spcPts val="4480"/>
              </a:lnSpc>
              <a:spcBef>
                <a:spcPct val="0"/>
              </a:spcBef>
            </a:pPr>
            <a:r>
              <a:rPr lang="en-US" sz="3200" b="1" i="1" u="none" strike="noStrike">
                <a:solidFill>
                  <a:srgbClr val="FFFFFF"/>
                </a:solidFill>
                <a:latin typeface="DM Sans Bold Italics"/>
                <a:ea typeface="DM Sans Bold Italics"/>
                <a:cs typeface="DM Sans Bold Italics"/>
                <a:sym typeface="DM Sans Bold Italics"/>
              </a:rPr>
              <a:t>Mars</a:t>
            </a:r>
          </a:p>
        </p:txBody>
      </p:sp>
      <p:sp>
        <p:nvSpPr>
          <p:cNvPr id="6" name="TextBox 6"/>
          <p:cNvSpPr txBox="1"/>
          <p:nvPr/>
        </p:nvSpPr>
        <p:spPr>
          <a:xfrm>
            <a:off x="8445029" y="2415018"/>
            <a:ext cx="1505534" cy="547296"/>
          </a:xfrm>
          <a:prstGeom prst="rect">
            <a:avLst/>
          </a:prstGeom>
        </p:spPr>
        <p:txBody>
          <a:bodyPr wrap="square" lIns="0" tIns="0" rIns="0" bIns="0" rtlCol="0" anchor="t">
            <a:spAutoFit/>
          </a:bodyPr>
          <a:lstStyle/>
          <a:p>
            <a:pPr marL="0" lvl="0" indent="0" algn="ctr">
              <a:lnSpc>
                <a:spcPts val="4480"/>
              </a:lnSpc>
              <a:spcBef>
                <a:spcPct val="0"/>
              </a:spcBef>
            </a:pPr>
            <a:r>
              <a:rPr lang="en-US" sz="3200" b="1" i="1" u="none" strike="noStrike" dirty="0">
                <a:solidFill>
                  <a:srgbClr val="FFFFFF"/>
                </a:solidFill>
                <a:latin typeface="DM Sans Bold Italics"/>
                <a:ea typeface="DM Sans Bold Italics"/>
                <a:cs typeface="DM Sans Bold Italics"/>
                <a:sym typeface="DM Sans Bold Italics"/>
              </a:rPr>
              <a:t>Jupiter</a:t>
            </a:r>
          </a:p>
        </p:txBody>
      </p:sp>
      <p:sp>
        <p:nvSpPr>
          <p:cNvPr id="7" name="Freeform 7"/>
          <p:cNvSpPr/>
          <p:nvPr/>
        </p:nvSpPr>
        <p:spPr>
          <a:xfrm>
            <a:off x="13973945" y="4366693"/>
            <a:ext cx="8188452" cy="8229600"/>
          </a:xfrm>
          <a:custGeom>
            <a:avLst/>
            <a:gdLst/>
            <a:ahLst/>
            <a:cxnLst/>
            <a:rect l="l" t="t" r="r" b="b"/>
            <a:pathLst>
              <a:path w="8188452" h="8229600">
                <a:moveTo>
                  <a:pt x="0" y="0"/>
                </a:moveTo>
                <a:lnTo>
                  <a:pt x="8188452" y="0"/>
                </a:lnTo>
                <a:lnTo>
                  <a:pt x="8188452" y="8229600"/>
                </a:lnTo>
                <a:lnTo>
                  <a:pt x="0" y="8229600"/>
                </a:lnTo>
                <a:lnTo>
                  <a:pt x="0" y="0"/>
                </a:lnTo>
                <a:close/>
              </a:path>
            </a:pathLst>
          </a:custGeom>
          <a:blipFill>
            <a:blip r:embed="rId3"/>
            <a:stretch>
              <a:fillRect/>
            </a:stretch>
          </a:blipFill>
        </p:spPr>
        <p:txBody>
          <a:bodyPr/>
          <a:lstStyle/>
          <a:p>
            <a:endParaRPr lang="ar-EG"/>
          </a:p>
        </p:txBody>
      </p:sp>
      <p:sp>
        <p:nvSpPr>
          <p:cNvPr id="8" name="Freeform 8"/>
          <p:cNvSpPr/>
          <p:nvPr/>
        </p:nvSpPr>
        <p:spPr>
          <a:xfrm>
            <a:off x="5959366" y="187120"/>
            <a:ext cx="1427224" cy="1327913"/>
          </a:xfrm>
          <a:custGeom>
            <a:avLst/>
            <a:gdLst/>
            <a:ahLst/>
            <a:cxnLst/>
            <a:rect l="l" t="t" r="r" b="b"/>
            <a:pathLst>
              <a:path w="1427224" h="1327913">
                <a:moveTo>
                  <a:pt x="0" y="0"/>
                </a:moveTo>
                <a:lnTo>
                  <a:pt x="1427223" y="0"/>
                </a:lnTo>
                <a:lnTo>
                  <a:pt x="1427223" y="1327912"/>
                </a:lnTo>
                <a:lnTo>
                  <a:pt x="0" y="1327912"/>
                </a:lnTo>
                <a:lnTo>
                  <a:pt x="0" y="0"/>
                </a:lnTo>
                <a:close/>
              </a:path>
            </a:pathLst>
          </a:custGeom>
          <a:blipFill>
            <a:blip r:embed="rId4"/>
            <a:stretch>
              <a:fillRect/>
            </a:stretch>
          </a:blipFill>
        </p:spPr>
        <p:txBody>
          <a:bodyPr/>
          <a:lstStyle/>
          <a:p>
            <a:endParaRPr lang="ar-EG"/>
          </a:p>
        </p:txBody>
      </p:sp>
      <p:sp>
        <p:nvSpPr>
          <p:cNvPr id="9" name="AutoShape 9"/>
          <p:cNvSpPr/>
          <p:nvPr/>
        </p:nvSpPr>
        <p:spPr>
          <a:xfrm flipH="1" flipV="1">
            <a:off x="9158285" y="2962583"/>
            <a:ext cx="14288" cy="757159"/>
          </a:xfrm>
          <a:prstGeom prst="line">
            <a:avLst/>
          </a:prstGeom>
          <a:ln w="28575" cap="flat">
            <a:solidFill>
              <a:srgbClr val="FFFFFF"/>
            </a:solidFill>
            <a:prstDash val="solid"/>
            <a:headEnd type="triangle" w="lg" len="med"/>
            <a:tailEnd type="triangle" w="lg" len="med"/>
          </a:ln>
        </p:spPr>
        <p:txBody>
          <a:bodyPr/>
          <a:lstStyle/>
          <a:p>
            <a:endParaRPr lang="ar-EG"/>
          </a:p>
        </p:txBody>
      </p:sp>
      <p:sp>
        <p:nvSpPr>
          <p:cNvPr id="10" name="AutoShape 10"/>
          <p:cNvSpPr/>
          <p:nvPr/>
        </p:nvSpPr>
        <p:spPr>
          <a:xfrm flipV="1">
            <a:off x="16153174" y="2185488"/>
            <a:ext cx="0" cy="1081346"/>
          </a:xfrm>
          <a:prstGeom prst="line">
            <a:avLst/>
          </a:prstGeom>
          <a:ln w="28575" cap="flat">
            <a:solidFill>
              <a:srgbClr val="FFFFFF"/>
            </a:solidFill>
            <a:prstDash val="solid"/>
            <a:headEnd type="triangle" w="lg" len="med"/>
            <a:tailEnd type="triangle" w="lg" len="med"/>
          </a:ln>
        </p:spPr>
        <p:txBody>
          <a:bodyPr/>
          <a:lstStyle/>
          <a:p>
            <a:endParaRPr lang="ar-EG"/>
          </a:p>
        </p:txBody>
      </p:sp>
      <p:sp>
        <p:nvSpPr>
          <p:cNvPr id="11" name="AutoShape 11"/>
          <p:cNvSpPr/>
          <p:nvPr/>
        </p:nvSpPr>
        <p:spPr>
          <a:xfrm flipV="1">
            <a:off x="14292502" y="1477585"/>
            <a:ext cx="0" cy="402561"/>
          </a:xfrm>
          <a:prstGeom prst="line">
            <a:avLst/>
          </a:prstGeom>
          <a:ln w="28575" cap="flat">
            <a:solidFill>
              <a:srgbClr val="FFFFFF"/>
            </a:solidFill>
            <a:prstDash val="solid"/>
            <a:headEnd type="triangle" w="lg" len="med"/>
            <a:tailEnd type="triangle" w="lg" len="med"/>
          </a:ln>
        </p:spPr>
        <p:txBody>
          <a:bodyPr/>
          <a:lstStyle/>
          <a:p>
            <a:endParaRPr lang="ar-EG"/>
          </a:p>
        </p:txBody>
      </p:sp>
      <p:sp>
        <p:nvSpPr>
          <p:cNvPr id="12" name="AutoShape 12"/>
          <p:cNvSpPr/>
          <p:nvPr/>
        </p:nvSpPr>
        <p:spPr>
          <a:xfrm flipV="1">
            <a:off x="7274430" y="6805191"/>
            <a:ext cx="0" cy="846098"/>
          </a:xfrm>
          <a:prstGeom prst="line">
            <a:avLst/>
          </a:prstGeom>
          <a:ln w="28575" cap="flat">
            <a:solidFill>
              <a:srgbClr val="FFFFFF"/>
            </a:solidFill>
            <a:prstDash val="solid"/>
            <a:headEnd type="triangle" w="lg" len="med"/>
            <a:tailEnd type="triangle" w="lg" len="med"/>
          </a:ln>
        </p:spPr>
        <p:txBody>
          <a:bodyPr/>
          <a:lstStyle/>
          <a:p>
            <a:endParaRPr lang="ar-EG"/>
          </a:p>
        </p:txBody>
      </p:sp>
      <p:sp>
        <p:nvSpPr>
          <p:cNvPr id="13" name="AutoShape 13"/>
          <p:cNvSpPr/>
          <p:nvPr/>
        </p:nvSpPr>
        <p:spPr>
          <a:xfrm flipV="1">
            <a:off x="5945078" y="5642606"/>
            <a:ext cx="0" cy="846098"/>
          </a:xfrm>
          <a:prstGeom prst="line">
            <a:avLst/>
          </a:prstGeom>
          <a:ln w="28575" cap="flat">
            <a:solidFill>
              <a:srgbClr val="FFFFFF"/>
            </a:solidFill>
            <a:prstDash val="solid"/>
            <a:headEnd type="triangle" w="lg" len="med"/>
            <a:tailEnd type="triangle" w="lg" len="med"/>
          </a:ln>
        </p:spPr>
        <p:txBody>
          <a:bodyPr/>
          <a:lstStyle/>
          <a:p>
            <a:endParaRPr lang="ar-EG"/>
          </a:p>
        </p:txBody>
      </p:sp>
      <p:sp>
        <p:nvSpPr>
          <p:cNvPr id="14" name="AutoShape 14"/>
          <p:cNvSpPr/>
          <p:nvPr/>
        </p:nvSpPr>
        <p:spPr>
          <a:xfrm flipH="1" flipV="1">
            <a:off x="4752046" y="8131910"/>
            <a:ext cx="0" cy="546721"/>
          </a:xfrm>
          <a:prstGeom prst="line">
            <a:avLst/>
          </a:prstGeom>
          <a:ln w="28575" cap="flat">
            <a:solidFill>
              <a:srgbClr val="FFFFFF"/>
            </a:solidFill>
            <a:prstDash val="solid"/>
            <a:headEnd type="triangle" w="lg" len="med"/>
            <a:tailEnd type="triangle" w="lg" len="med"/>
          </a:ln>
        </p:spPr>
        <p:txBody>
          <a:bodyPr/>
          <a:lstStyle/>
          <a:p>
            <a:endParaRPr lang="ar-EG"/>
          </a:p>
        </p:txBody>
      </p:sp>
      <p:sp>
        <p:nvSpPr>
          <p:cNvPr id="15" name="AutoShape 15"/>
          <p:cNvSpPr/>
          <p:nvPr/>
        </p:nvSpPr>
        <p:spPr>
          <a:xfrm flipV="1">
            <a:off x="3686181" y="6732013"/>
            <a:ext cx="0" cy="1287971"/>
          </a:xfrm>
          <a:prstGeom prst="line">
            <a:avLst/>
          </a:prstGeom>
          <a:ln w="28575" cap="flat">
            <a:solidFill>
              <a:srgbClr val="FFFFFF"/>
            </a:solidFill>
            <a:prstDash val="solid"/>
            <a:headEnd type="triangle" w="lg" len="med"/>
            <a:tailEnd type="triangle" w="lg" len="med"/>
          </a:ln>
        </p:spPr>
        <p:txBody>
          <a:bodyPr/>
          <a:lstStyle/>
          <a:p>
            <a:endParaRPr lang="ar-EG"/>
          </a:p>
        </p:txBody>
      </p:sp>
      <p:sp>
        <p:nvSpPr>
          <p:cNvPr id="16" name="Freeform 16"/>
          <p:cNvSpPr/>
          <p:nvPr/>
        </p:nvSpPr>
        <p:spPr>
          <a:xfrm>
            <a:off x="16430450" y="4567906"/>
            <a:ext cx="2605184" cy="2571569"/>
          </a:xfrm>
          <a:custGeom>
            <a:avLst/>
            <a:gdLst/>
            <a:ahLst/>
            <a:cxnLst/>
            <a:rect l="l" t="t" r="r" b="b"/>
            <a:pathLst>
              <a:path w="2605184" h="2571569">
                <a:moveTo>
                  <a:pt x="0" y="0"/>
                </a:moveTo>
                <a:lnTo>
                  <a:pt x="2605184" y="0"/>
                </a:lnTo>
                <a:lnTo>
                  <a:pt x="2605184" y="2571568"/>
                </a:lnTo>
                <a:lnTo>
                  <a:pt x="0" y="2571568"/>
                </a:lnTo>
                <a:lnTo>
                  <a:pt x="0" y="0"/>
                </a:lnTo>
                <a:close/>
              </a:path>
            </a:pathLst>
          </a:custGeom>
          <a:blipFill>
            <a:blip r:embed="rId4"/>
            <a:stretch>
              <a:fillRect r="-6091"/>
            </a:stretch>
          </a:blipFill>
        </p:spPr>
        <p:txBody>
          <a:bodyPr/>
          <a:lstStyle/>
          <a:p>
            <a:endParaRPr lang="ar-EG"/>
          </a:p>
        </p:txBody>
      </p:sp>
      <p:sp>
        <p:nvSpPr>
          <p:cNvPr id="17" name="Freeform 17"/>
          <p:cNvSpPr/>
          <p:nvPr/>
        </p:nvSpPr>
        <p:spPr>
          <a:xfrm>
            <a:off x="10661789" y="8490327"/>
            <a:ext cx="2587311" cy="2695285"/>
          </a:xfrm>
          <a:custGeom>
            <a:avLst/>
            <a:gdLst/>
            <a:ahLst/>
            <a:cxnLst/>
            <a:rect l="l" t="t" r="r" b="b"/>
            <a:pathLst>
              <a:path w="2587311" h="2695285">
                <a:moveTo>
                  <a:pt x="0" y="0"/>
                </a:moveTo>
                <a:lnTo>
                  <a:pt x="2587311" y="0"/>
                </a:lnTo>
                <a:lnTo>
                  <a:pt x="2587311" y="2695285"/>
                </a:lnTo>
                <a:lnTo>
                  <a:pt x="0" y="2695285"/>
                </a:lnTo>
                <a:lnTo>
                  <a:pt x="0" y="0"/>
                </a:lnTo>
                <a:close/>
              </a:path>
            </a:pathLst>
          </a:custGeom>
          <a:blipFill>
            <a:blip r:embed="rId4"/>
            <a:stretch>
              <a:fillRect l="-49755" b="-33753"/>
            </a:stretch>
          </a:blipFill>
        </p:spPr>
        <p:txBody>
          <a:bodyPr/>
          <a:lstStyle/>
          <a:p>
            <a:endParaRPr lang="ar-EG"/>
          </a:p>
        </p:txBody>
      </p:sp>
      <p:sp>
        <p:nvSpPr>
          <p:cNvPr id="18" name="Freeform 18"/>
          <p:cNvSpPr/>
          <p:nvPr/>
        </p:nvSpPr>
        <p:spPr>
          <a:xfrm>
            <a:off x="9144000" y="6805191"/>
            <a:ext cx="1237854" cy="1221881"/>
          </a:xfrm>
          <a:custGeom>
            <a:avLst/>
            <a:gdLst/>
            <a:ahLst/>
            <a:cxnLst/>
            <a:rect l="l" t="t" r="r" b="b"/>
            <a:pathLst>
              <a:path w="1237854" h="1221881">
                <a:moveTo>
                  <a:pt x="0" y="0"/>
                </a:moveTo>
                <a:lnTo>
                  <a:pt x="1237854" y="0"/>
                </a:lnTo>
                <a:lnTo>
                  <a:pt x="1237854" y="1221881"/>
                </a:lnTo>
                <a:lnTo>
                  <a:pt x="0" y="1221881"/>
                </a:lnTo>
                <a:lnTo>
                  <a:pt x="0" y="0"/>
                </a:lnTo>
                <a:close/>
              </a:path>
            </a:pathLst>
          </a:custGeom>
          <a:blipFill>
            <a:blip r:embed="rId4"/>
            <a:stretch>
              <a:fillRect r="-6091"/>
            </a:stretch>
          </a:blipFill>
        </p:spPr>
        <p:txBody>
          <a:bodyPr/>
          <a:lstStyle/>
          <a:p>
            <a:endParaRPr lang="ar-EG"/>
          </a:p>
        </p:txBody>
      </p:sp>
      <p:sp>
        <p:nvSpPr>
          <p:cNvPr id="19" name="Freeform 19"/>
          <p:cNvSpPr/>
          <p:nvPr/>
        </p:nvSpPr>
        <p:spPr>
          <a:xfrm>
            <a:off x="16789974" y="-867184"/>
            <a:ext cx="2245660" cy="2063200"/>
          </a:xfrm>
          <a:custGeom>
            <a:avLst/>
            <a:gdLst/>
            <a:ahLst/>
            <a:cxnLst/>
            <a:rect l="l" t="t" r="r" b="b"/>
            <a:pathLst>
              <a:path w="2245660" h="2063200">
                <a:moveTo>
                  <a:pt x="0" y="0"/>
                </a:moveTo>
                <a:lnTo>
                  <a:pt x="2245660" y="0"/>
                </a:lnTo>
                <a:lnTo>
                  <a:pt x="2245660" y="2063200"/>
                </a:lnTo>
                <a:lnTo>
                  <a:pt x="0" y="2063200"/>
                </a:lnTo>
                <a:lnTo>
                  <a:pt x="0" y="0"/>
                </a:lnTo>
                <a:close/>
              </a:path>
            </a:pathLst>
          </a:custGeom>
          <a:blipFill>
            <a:blip r:embed="rId5"/>
            <a:stretch>
              <a:fillRect/>
            </a:stretch>
          </a:blipFill>
        </p:spPr>
        <p:txBody>
          <a:bodyPr/>
          <a:lstStyle/>
          <a:p>
            <a:endParaRPr lang="ar-EG"/>
          </a:p>
        </p:txBody>
      </p:sp>
      <p:sp>
        <p:nvSpPr>
          <p:cNvPr id="20" name="Freeform 20"/>
          <p:cNvSpPr/>
          <p:nvPr/>
        </p:nvSpPr>
        <p:spPr>
          <a:xfrm>
            <a:off x="4181005" y="7189213"/>
            <a:ext cx="1040483" cy="1042379"/>
          </a:xfrm>
          <a:custGeom>
            <a:avLst/>
            <a:gdLst/>
            <a:ahLst/>
            <a:cxnLst/>
            <a:rect l="l" t="t" r="r" b="b"/>
            <a:pathLst>
              <a:path w="1040483" h="1042379">
                <a:moveTo>
                  <a:pt x="0" y="0"/>
                </a:moveTo>
                <a:lnTo>
                  <a:pt x="1040484" y="0"/>
                </a:lnTo>
                <a:lnTo>
                  <a:pt x="1040484" y="1042378"/>
                </a:lnTo>
                <a:lnTo>
                  <a:pt x="0" y="1042378"/>
                </a:lnTo>
                <a:lnTo>
                  <a:pt x="0" y="0"/>
                </a:lnTo>
                <a:close/>
              </a:path>
            </a:pathLst>
          </a:custGeom>
          <a:blipFill>
            <a:blip r:embed="rId6"/>
            <a:stretch>
              <a:fillRect/>
            </a:stretch>
          </a:blipFill>
        </p:spPr>
        <p:txBody>
          <a:bodyPr/>
          <a:lstStyle/>
          <a:p>
            <a:endParaRPr lang="ar-EG"/>
          </a:p>
        </p:txBody>
      </p:sp>
      <p:sp>
        <p:nvSpPr>
          <p:cNvPr id="21" name="Freeform 21"/>
          <p:cNvSpPr/>
          <p:nvPr/>
        </p:nvSpPr>
        <p:spPr>
          <a:xfrm>
            <a:off x="5425147" y="6555379"/>
            <a:ext cx="1144968" cy="1143537"/>
          </a:xfrm>
          <a:custGeom>
            <a:avLst/>
            <a:gdLst/>
            <a:ahLst/>
            <a:cxnLst/>
            <a:rect l="l" t="t" r="r" b="b"/>
            <a:pathLst>
              <a:path w="1144968" h="1143537">
                <a:moveTo>
                  <a:pt x="0" y="0"/>
                </a:moveTo>
                <a:lnTo>
                  <a:pt x="1144969" y="0"/>
                </a:lnTo>
                <a:lnTo>
                  <a:pt x="1144969" y="1143537"/>
                </a:lnTo>
                <a:lnTo>
                  <a:pt x="0" y="1143537"/>
                </a:lnTo>
                <a:lnTo>
                  <a:pt x="0" y="0"/>
                </a:lnTo>
                <a:close/>
              </a:path>
            </a:pathLst>
          </a:custGeom>
          <a:blipFill>
            <a:blip r:embed="rId7"/>
            <a:stretch>
              <a:fillRect/>
            </a:stretch>
          </a:blipFill>
        </p:spPr>
        <p:txBody>
          <a:bodyPr/>
          <a:lstStyle/>
          <a:p>
            <a:endParaRPr lang="ar-EG"/>
          </a:p>
        </p:txBody>
      </p:sp>
      <p:sp>
        <p:nvSpPr>
          <p:cNvPr id="22" name="Freeform 22"/>
          <p:cNvSpPr/>
          <p:nvPr/>
        </p:nvSpPr>
        <p:spPr>
          <a:xfrm>
            <a:off x="15326732" y="724074"/>
            <a:ext cx="1463242" cy="1461413"/>
          </a:xfrm>
          <a:custGeom>
            <a:avLst/>
            <a:gdLst/>
            <a:ahLst/>
            <a:cxnLst/>
            <a:rect l="l" t="t" r="r" b="b"/>
            <a:pathLst>
              <a:path w="1463242" h="1461413">
                <a:moveTo>
                  <a:pt x="0" y="0"/>
                </a:moveTo>
                <a:lnTo>
                  <a:pt x="1463242" y="0"/>
                </a:lnTo>
                <a:lnTo>
                  <a:pt x="1463242" y="1461414"/>
                </a:lnTo>
                <a:lnTo>
                  <a:pt x="0" y="1461414"/>
                </a:lnTo>
                <a:lnTo>
                  <a:pt x="0" y="0"/>
                </a:lnTo>
                <a:close/>
              </a:path>
            </a:pathLst>
          </a:custGeom>
          <a:blipFill>
            <a:blip r:embed="rId8"/>
            <a:stretch>
              <a:fillRect/>
            </a:stretch>
          </a:blipFill>
        </p:spPr>
        <p:txBody>
          <a:bodyPr/>
          <a:lstStyle/>
          <a:p>
            <a:endParaRPr lang="ar-EG"/>
          </a:p>
        </p:txBody>
      </p:sp>
      <p:sp>
        <p:nvSpPr>
          <p:cNvPr id="23" name="Freeform 23"/>
          <p:cNvSpPr/>
          <p:nvPr/>
        </p:nvSpPr>
        <p:spPr>
          <a:xfrm>
            <a:off x="13603762" y="1880146"/>
            <a:ext cx="1377481" cy="1375759"/>
          </a:xfrm>
          <a:custGeom>
            <a:avLst/>
            <a:gdLst/>
            <a:ahLst/>
            <a:cxnLst/>
            <a:rect l="l" t="t" r="r" b="b"/>
            <a:pathLst>
              <a:path w="1377481" h="1375759">
                <a:moveTo>
                  <a:pt x="0" y="0"/>
                </a:moveTo>
                <a:lnTo>
                  <a:pt x="1377481" y="0"/>
                </a:lnTo>
                <a:lnTo>
                  <a:pt x="1377481" y="1375759"/>
                </a:lnTo>
                <a:lnTo>
                  <a:pt x="0" y="1375759"/>
                </a:lnTo>
                <a:lnTo>
                  <a:pt x="0" y="0"/>
                </a:lnTo>
                <a:close/>
              </a:path>
            </a:pathLst>
          </a:custGeom>
          <a:blipFill>
            <a:blip r:embed="rId9"/>
            <a:stretch>
              <a:fillRect/>
            </a:stretch>
          </a:blipFill>
        </p:spPr>
        <p:txBody>
          <a:bodyPr/>
          <a:lstStyle/>
          <a:p>
            <a:endParaRPr lang="ar-EG"/>
          </a:p>
        </p:txBody>
      </p:sp>
      <p:sp>
        <p:nvSpPr>
          <p:cNvPr id="24" name="Freeform 24"/>
          <p:cNvSpPr/>
          <p:nvPr/>
        </p:nvSpPr>
        <p:spPr>
          <a:xfrm>
            <a:off x="3395669" y="8077134"/>
            <a:ext cx="569063" cy="569063"/>
          </a:xfrm>
          <a:custGeom>
            <a:avLst/>
            <a:gdLst/>
            <a:ahLst/>
            <a:cxnLst/>
            <a:rect l="l" t="t" r="r" b="b"/>
            <a:pathLst>
              <a:path w="569063" h="569063">
                <a:moveTo>
                  <a:pt x="0" y="0"/>
                </a:moveTo>
                <a:lnTo>
                  <a:pt x="569063" y="0"/>
                </a:lnTo>
                <a:lnTo>
                  <a:pt x="569063" y="569063"/>
                </a:lnTo>
                <a:lnTo>
                  <a:pt x="0" y="569063"/>
                </a:lnTo>
                <a:lnTo>
                  <a:pt x="0" y="0"/>
                </a:lnTo>
                <a:close/>
              </a:path>
            </a:pathLst>
          </a:custGeom>
          <a:blipFill>
            <a:blip r:embed="rId10"/>
            <a:stretch>
              <a:fillRect/>
            </a:stretch>
          </a:blipFill>
        </p:spPr>
        <p:txBody>
          <a:bodyPr/>
          <a:lstStyle/>
          <a:p>
            <a:endParaRPr lang="ar-EG"/>
          </a:p>
        </p:txBody>
      </p:sp>
      <p:sp>
        <p:nvSpPr>
          <p:cNvPr id="25" name="Freeform 25"/>
          <p:cNvSpPr/>
          <p:nvPr/>
        </p:nvSpPr>
        <p:spPr>
          <a:xfrm>
            <a:off x="-3108444" y="7416131"/>
            <a:ext cx="6504113" cy="6512253"/>
          </a:xfrm>
          <a:custGeom>
            <a:avLst/>
            <a:gdLst/>
            <a:ahLst/>
            <a:cxnLst/>
            <a:rect l="l" t="t" r="r" b="b"/>
            <a:pathLst>
              <a:path w="6504113" h="6512253">
                <a:moveTo>
                  <a:pt x="0" y="0"/>
                </a:moveTo>
                <a:lnTo>
                  <a:pt x="6504113" y="0"/>
                </a:lnTo>
                <a:lnTo>
                  <a:pt x="6504113" y="6512253"/>
                </a:lnTo>
                <a:lnTo>
                  <a:pt x="0" y="6512253"/>
                </a:lnTo>
                <a:lnTo>
                  <a:pt x="0" y="0"/>
                </a:lnTo>
                <a:close/>
              </a:path>
            </a:pathLst>
          </a:custGeom>
          <a:blipFill>
            <a:blip r:embed="rId11"/>
            <a:stretch>
              <a:fillRect/>
            </a:stretch>
          </a:blipFill>
        </p:spPr>
        <p:txBody>
          <a:bodyPr/>
          <a:lstStyle/>
          <a:p>
            <a:endParaRPr lang="ar-EG"/>
          </a:p>
        </p:txBody>
      </p:sp>
      <p:sp>
        <p:nvSpPr>
          <p:cNvPr id="26" name="Freeform 26"/>
          <p:cNvSpPr/>
          <p:nvPr/>
        </p:nvSpPr>
        <p:spPr>
          <a:xfrm>
            <a:off x="6465009" y="5720850"/>
            <a:ext cx="1390968" cy="1086520"/>
          </a:xfrm>
          <a:custGeom>
            <a:avLst/>
            <a:gdLst/>
            <a:ahLst/>
            <a:cxnLst/>
            <a:rect l="l" t="t" r="r" b="b"/>
            <a:pathLst>
              <a:path w="1390968" h="1086520">
                <a:moveTo>
                  <a:pt x="0" y="0"/>
                </a:moveTo>
                <a:lnTo>
                  <a:pt x="1390969" y="0"/>
                </a:lnTo>
                <a:lnTo>
                  <a:pt x="1390969" y="1086519"/>
                </a:lnTo>
                <a:lnTo>
                  <a:pt x="0" y="1086519"/>
                </a:lnTo>
                <a:lnTo>
                  <a:pt x="0" y="0"/>
                </a:lnTo>
                <a:close/>
              </a:path>
            </a:pathLst>
          </a:custGeom>
          <a:blipFill>
            <a:blip r:embed="rId12"/>
            <a:stretch>
              <a:fillRect/>
            </a:stretch>
          </a:blipFill>
        </p:spPr>
        <p:txBody>
          <a:bodyPr/>
          <a:lstStyle/>
          <a:p>
            <a:endParaRPr lang="ar-EG"/>
          </a:p>
        </p:txBody>
      </p:sp>
      <p:sp>
        <p:nvSpPr>
          <p:cNvPr id="27" name="TextBox 27"/>
          <p:cNvSpPr txBox="1"/>
          <p:nvPr/>
        </p:nvSpPr>
        <p:spPr>
          <a:xfrm>
            <a:off x="11247538" y="6153845"/>
            <a:ext cx="2001562" cy="1108710"/>
          </a:xfrm>
          <a:prstGeom prst="rect">
            <a:avLst/>
          </a:prstGeom>
        </p:spPr>
        <p:txBody>
          <a:bodyPr lIns="0" tIns="0" rIns="0" bIns="0" rtlCol="0" anchor="t">
            <a:spAutoFit/>
          </a:bodyPr>
          <a:lstStyle/>
          <a:p>
            <a:pPr algn="ctr">
              <a:lnSpc>
                <a:spcPts val="2940"/>
              </a:lnSpc>
              <a:spcBef>
                <a:spcPct val="0"/>
              </a:spcBef>
            </a:pPr>
            <a:r>
              <a:rPr lang="en-US" sz="2100" dirty="0">
                <a:solidFill>
                  <a:srgbClr val="FFFFFF"/>
                </a:solidFill>
                <a:latin typeface="DM Sans"/>
                <a:ea typeface="DM Sans"/>
                <a:cs typeface="DM Sans"/>
                <a:sym typeface="DM Sans"/>
              </a:rPr>
              <a:t>Beautiful rings, gas giant, low density.</a:t>
            </a:r>
          </a:p>
        </p:txBody>
      </p:sp>
      <p:sp>
        <p:nvSpPr>
          <p:cNvPr id="28" name="TextBox 28"/>
          <p:cNvSpPr txBox="1"/>
          <p:nvPr/>
        </p:nvSpPr>
        <p:spPr>
          <a:xfrm>
            <a:off x="15254200" y="3797504"/>
            <a:ext cx="2001562" cy="737235"/>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DM Sans"/>
                <a:ea typeface="DM Sans"/>
                <a:cs typeface="DM Sans"/>
                <a:sym typeface="DM Sans"/>
              </a:rPr>
              <a:t>Farthest planet, fastest winds.</a:t>
            </a:r>
          </a:p>
        </p:txBody>
      </p:sp>
      <p:sp>
        <p:nvSpPr>
          <p:cNvPr id="29" name="TextBox 29"/>
          <p:cNvSpPr txBox="1"/>
          <p:nvPr/>
        </p:nvSpPr>
        <p:spPr>
          <a:xfrm>
            <a:off x="8641497" y="8498947"/>
            <a:ext cx="9869121" cy="1171904"/>
          </a:xfrm>
          <a:prstGeom prst="rect">
            <a:avLst/>
          </a:prstGeom>
        </p:spPr>
        <p:txBody>
          <a:bodyPr lIns="0" tIns="0" rIns="0" bIns="0" rtlCol="0" anchor="t">
            <a:spAutoFit/>
          </a:bodyPr>
          <a:lstStyle/>
          <a:p>
            <a:pPr algn="l">
              <a:lnSpc>
                <a:spcPts val="2334"/>
              </a:lnSpc>
              <a:spcBef>
                <a:spcPct val="0"/>
              </a:spcBef>
            </a:pPr>
            <a:r>
              <a:rPr lang="en-US" sz="1667" b="1" i="1" dirty="0">
                <a:solidFill>
                  <a:srgbClr val="FFFFFF"/>
                </a:solidFill>
                <a:latin typeface="DM Sans Bold Italics"/>
                <a:ea typeface="DM Sans Bold Italics"/>
                <a:cs typeface="DM Sans Bold Italics"/>
                <a:sym typeface="DM Sans Bold Italics"/>
              </a:rPr>
              <a:t>We would like to sincerely thank </a:t>
            </a:r>
            <a:r>
              <a:rPr lang="en-US" sz="1667" b="1" i="1" u="sng" dirty="0">
                <a:solidFill>
                  <a:srgbClr val="FFFFFF"/>
                </a:solidFill>
                <a:latin typeface="DM Sans Bold Italics"/>
                <a:ea typeface="DM Sans Bold Italics"/>
                <a:cs typeface="DM Sans Bold Italics"/>
                <a:sym typeface="DM Sans Bold Italics"/>
              </a:rPr>
              <a:t>Dr. Soha Safwat</a:t>
            </a:r>
            <a:r>
              <a:rPr lang="en-US" sz="1667" b="1" i="1" dirty="0">
                <a:solidFill>
                  <a:srgbClr val="FFFFFF"/>
                </a:solidFill>
                <a:latin typeface="DM Sans Bold Italics"/>
                <a:ea typeface="DM Sans Bold Italics"/>
                <a:cs typeface="DM Sans Bold Italics"/>
                <a:sym typeface="DM Sans Bold Italics"/>
              </a:rPr>
              <a:t>, </a:t>
            </a:r>
            <a:r>
              <a:rPr lang="en-US" sz="1667" b="1" i="1" u="sng" dirty="0">
                <a:solidFill>
                  <a:srgbClr val="FFFFFF"/>
                </a:solidFill>
                <a:latin typeface="DM Sans Bold Italics"/>
                <a:ea typeface="DM Sans Bold Italics"/>
                <a:cs typeface="DM Sans Bold Italics"/>
                <a:sym typeface="DM Sans Bold Italics"/>
              </a:rPr>
              <a:t>Dr. Mahmoud Emam</a:t>
            </a:r>
            <a:r>
              <a:rPr lang="en-US" sz="1667" b="1" i="1" dirty="0">
                <a:solidFill>
                  <a:srgbClr val="FFFFFF"/>
                </a:solidFill>
                <a:latin typeface="DM Sans Bold Italics"/>
                <a:ea typeface="DM Sans Bold Italics"/>
                <a:cs typeface="DM Sans Bold Italics"/>
                <a:sym typeface="DM Sans Bold Italics"/>
              </a:rPr>
              <a:t>, </a:t>
            </a:r>
            <a:r>
              <a:rPr lang="en-US" sz="1667" b="1" i="1" u="sng" dirty="0">
                <a:solidFill>
                  <a:srgbClr val="FFFFFF"/>
                </a:solidFill>
                <a:latin typeface="DM Sans Bold Italics"/>
                <a:ea typeface="DM Sans Bold Italics"/>
                <a:cs typeface="DM Sans Bold Italics"/>
                <a:sym typeface="DM Sans Bold Italics"/>
              </a:rPr>
              <a:t>Dr. Mahmoud Essa, </a:t>
            </a:r>
            <a:r>
              <a:rPr lang="en-US" sz="1667" b="1" i="1" u="sng" dirty="0" err="1">
                <a:solidFill>
                  <a:srgbClr val="FFFFFF"/>
                </a:solidFill>
                <a:latin typeface="DM Sans Bold Italics"/>
                <a:ea typeface="DM Sans Bold Italics"/>
                <a:cs typeface="DM Sans Bold Italics"/>
                <a:sym typeface="DM Sans Bold Italics"/>
              </a:rPr>
              <a:t>Eng.Mohamed</a:t>
            </a:r>
            <a:r>
              <a:rPr lang="en-US" sz="1667" b="1" i="1" u="sng" dirty="0">
                <a:solidFill>
                  <a:srgbClr val="FFFFFF"/>
                </a:solidFill>
                <a:latin typeface="DM Sans Bold Italics"/>
                <a:ea typeface="DM Sans Bold Italics"/>
                <a:cs typeface="DM Sans Bold Italics"/>
                <a:sym typeface="DM Sans Bold Italics"/>
              </a:rPr>
              <a:t> Hemdan</a:t>
            </a:r>
            <a:r>
              <a:rPr lang="en-US" sz="1667" b="1" i="1" dirty="0">
                <a:solidFill>
                  <a:srgbClr val="FFFFFF"/>
                </a:solidFill>
                <a:latin typeface="DM Sans Bold Italics"/>
                <a:ea typeface="DM Sans Bold Italics"/>
                <a:cs typeface="DM Sans Bold Italics"/>
                <a:sym typeface="DM Sans Bold Italics"/>
              </a:rPr>
              <a:t> and </a:t>
            </a:r>
            <a:r>
              <a:rPr lang="en-US" sz="1667" b="1" i="1" u="sng" dirty="0" err="1">
                <a:solidFill>
                  <a:schemeClr val="bg1"/>
                </a:solidFill>
                <a:latin typeface="DM Sans Bold Italics"/>
                <a:ea typeface="DM Sans Bold Italics"/>
                <a:cs typeface="DM Sans Bold Italics"/>
                <a:sym typeface="DM Sans Bold Italics"/>
              </a:rPr>
              <a:t>Eng.</a:t>
            </a:r>
            <a:r>
              <a:rPr lang="en-US" sz="1667" b="1" i="1" u="sng" dirty="0" err="1">
                <a:solidFill>
                  <a:schemeClr val="bg1"/>
                </a:solidFill>
                <a:latin typeface="DM Sans Bold Italics"/>
                <a:ea typeface="DM Sans Bold Italics"/>
                <a:cs typeface="DM Sans Bold Italics"/>
                <a:sym typeface="DM Sans Bold Italics"/>
                <a:hlinkClick r:id="rId13" tooltip="https://scholar.google.com.eg/citations?user=-TDV2bYAAAAJ&amp;hl=en&amp;oi=ao">
                  <a:extLst>
                    <a:ext uri="{A12FA001-AC4F-418D-AE19-62706E023703}">
                      <ahyp:hlinkClr xmlns:ahyp="http://schemas.microsoft.com/office/drawing/2018/hyperlinkcolor" val="tx"/>
                    </a:ext>
                  </a:extLst>
                </a:hlinkClick>
              </a:rPr>
              <a:t>Ramez</a:t>
            </a:r>
            <a:r>
              <a:rPr lang="en-US" sz="1667" b="1" i="1" u="sng" dirty="0">
                <a:solidFill>
                  <a:schemeClr val="bg1"/>
                </a:solidFill>
                <a:latin typeface="DM Sans Bold Italics"/>
                <a:ea typeface="DM Sans Bold Italics"/>
                <a:cs typeface="DM Sans Bold Italics"/>
                <a:sym typeface="DM Sans Bold Italics"/>
                <a:hlinkClick r:id="rId13" tooltip="https://scholar.google.com.eg/citations?user=-TDV2bYAAAAJ&amp;hl=en&amp;oi=ao">
                  <a:extLst>
                    <a:ext uri="{A12FA001-AC4F-418D-AE19-62706E023703}">
                      <ahyp:hlinkClr xmlns:ahyp="http://schemas.microsoft.com/office/drawing/2018/hyperlinkcolor" val="tx"/>
                    </a:ext>
                  </a:extLst>
                </a:hlinkClick>
              </a:rPr>
              <a:t> Yousri</a:t>
            </a:r>
          </a:p>
          <a:p>
            <a:pPr algn="l">
              <a:lnSpc>
                <a:spcPts val="2334"/>
              </a:lnSpc>
              <a:spcBef>
                <a:spcPct val="0"/>
              </a:spcBef>
            </a:pPr>
            <a:r>
              <a:rPr lang="en-US" sz="1667" b="1" i="1" dirty="0">
                <a:solidFill>
                  <a:srgbClr val="FFFFFF"/>
                </a:solidFill>
                <a:latin typeface="DM Sans Bold Italics"/>
                <a:ea typeface="DM Sans Bold Italics"/>
                <a:cs typeface="DM Sans Bold Italics"/>
                <a:sym typeface="DM Sans Bold Italics"/>
              </a:rPr>
              <a:t>For their valuable support and great efforts throughout our project.</a:t>
            </a:r>
          </a:p>
          <a:p>
            <a:pPr algn="l">
              <a:lnSpc>
                <a:spcPts val="2334"/>
              </a:lnSpc>
              <a:spcBef>
                <a:spcPct val="0"/>
              </a:spcBef>
            </a:pPr>
            <a:r>
              <a:rPr lang="en-US" sz="1667" b="1" i="1" dirty="0">
                <a:solidFill>
                  <a:srgbClr val="FFFFFF"/>
                </a:solidFill>
                <a:latin typeface="DM Sans Bold Italics"/>
                <a:ea typeface="DM Sans Bold Italics"/>
                <a:cs typeface="DM Sans Bold Italics"/>
                <a:sym typeface="DM Sans Bold Italics"/>
              </a:rPr>
              <a:t>Your guidance and encouragement meant a lot to us and truly made a significant difference.</a:t>
            </a:r>
          </a:p>
        </p:txBody>
      </p:sp>
      <p:grpSp>
        <p:nvGrpSpPr>
          <p:cNvPr id="30" name="Group 30"/>
          <p:cNvGrpSpPr/>
          <p:nvPr/>
        </p:nvGrpSpPr>
        <p:grpSpPr>
          <a:xfrm rot="866554">
            <a:off x="11211283" y="3370525"/>
            <a:ext cx="3325391" cy="1638819"/>
            <a:chOff x="0" y="0"/>
            <a:chExt cx="875823" cy="431623"/>
          </a:xfrm>
        </p:grpSpPr>
        <p:sp>
          <p:nvSpPr>
            <p:cNvPr id="31" name="Freeform 31"/>
            <p:cNvSpPr/>
            <p:nvPr/>
          </p:nvSpPr>
          <p:spPr>
            <a:xfrm>
              <a:off x="0" y="0"/>
              <a:ext cx="875823" cy="431623"/>
            </a:xfrm>
            <a:custGeom>
              <a:avLst/>
              <a:gdLst/>
              <a:ahLst/>
              <a:cxnLst/>
              <a:rect l="l" t="t" r="r" b="b"/>
              <a:pathLst>
                <a:path w="875823" h="431623">
                  <a:moveTo>
                    <a:pt x="0" y="0"/>
                  </a:moveTo>
                  <a:lnTo>
                    <a:pt x="875823" y="0"/>
                  </a:lnTo>
                  <a:lnTo>
                    <a:pt x="875823" y="431623"/>
                  </a:lnTo>
                  <a:lnTo>
                    <a:pt x="0" y="431623"/>
                  </a:lnTo>
                  <a:close/>
                </a:path>
              </a:pathLst>
            </a:custGeom>
            <a:solidFill>
              <a:srgbClr val="030202"/>
            </a:solidFill>
          </p:spPr>
          <p:txBody>
            <a:bodyPr/>
            <a:lstStyle/>
            <a:p>
              <a:endParaRPr lang="ar-EG"/>
            </a:p>
          </p:txBody>
        </p:sp>
        <p:sp>
          <p:nvSpPr>
            <p:cNvPr id="32" name="TextBox 32"/>
            <p:cNvSpPr txBox="1"/>
            <p:nvPr/>
          </p:nvSpPr>
          <p:spPr>
            <a:xfrm>
              <a:off x="0" y="-47625"/>
              <a:ext cx="875823" cy="479248"/>
            </a:xfrm>
            <a:prstGeom prst="rect">
              <a:avLst/>
            </a:prstGeom>
          </p:spPr>
          <p:txBody>
            <a:bodyPr lIns="50800" tIns="50800" rIns="50800" bIns="50800" rtlCol="0" anchor="ctr"/>
            <a:lstStyle/>
            <a:p>
              <a:pPr algn="ctr">
                <a:lnSpc>
                  <a:spcPts val="2940"/>
                </a:lnSpc>
              </a:pPr>
              <a:endParaRPr/>
            </a:p>
          </p:txBody>
        </p:sp>
      </p:grpSp>
      <p:sp>
        <p:nvSpPr>
          <p:cNvPr id="33" name="TextBox 33"/>
          <p:cNvSpPr txBox="1"/>
          <p:nvPr/>
        </p:nvSpPr>
        <p:spPr>
          <a:xfrm>
            <a:off x="5425147" y="5026176"/>
            <a:ext cx="1039862" cy="547296"/>
          </a:xfrm>
          <a:prstGeom prst="rect">
            <a:avLst/>
          </a:prstGeom>
        </p:spPr>
        <p:txBody>
          <a:bodyPr lIns="0" tIns="0" rIns="0" bIns="0" rtlCol="0" anchor="t">
            <a:spAutoFit/>
          </a:bodyPr>
          <a:lstStyle/>
          <a:p>
            <a:pPr marL="0" lvl="0" indent="0" algn="ctr">
              <a:lnSpc>
                <a:spcPts val="4480"/>
              </a:lnSpc>
              <a:spcBef>
                <a:spcPct val="0"/>
              </a:spcBef>
            </a:pPr>
            <a:r>
              <a:rPr lang="en-US" sz="3200" b="1" i="1" u="none" strike="noStrike">
                <a:solidFill>
                  <a:srgbClr val="FFFFFF"/>
                </a:solidFill>
                <a:latin typeface="DM Sans Bold Italics"/>
                <a:ea typeface="DM Sans Bold Italics"/>
                <a:cs typeface="DM Sans Bold Italics"/>
                <a:sym typeface="DM Sans Bold Italics"/>
              </a:rPr>
              <a:t>Earth</a:t>
            </a:r>
          </a:p>
        </p:txBody>
      </p:sp>
      <p:sp>
        <p:nvSpPr>
          <p:cNvPr id="34" name="TextBox 34"/>
          <p:cNvSpPr txBox="1"/>
          <p:nvPr/>
        </p:nvSpPr>
        <p:spPr>
          <a:xfrm>
            <a:off x="13496860" y="889031"/>
            <a:ext cx="1484381" cy="547296"/>
          </a:xfrm>
          <a:prstGeom prst="rect">
            <a:avLst/>
          </a:prstGeom>
        </p:spPr>
        <p:txBody>
          <a:bodyPr wrap="square" lIns="0" tIns="0" rIns="0" bIns="0" rtlCol="0" anchor="t">
            <a:spAutoFit/>
          </a:bodyPr>
          <a:lstStyle/>
          <a:p>
            <a:pPr marL="0" lvl="0" indent="0" algn="ctr">
              <a:lnSpc>
                <a:spcPts val="4480"/>
              </a:lnSpc>
              <a:spcBef>
                <a:spcPct val="0"/>
              </a:spcBef>
            </a:pPr>
            <a:r>
              <a:rPr lang="en-US" sz="3200" b="1" i="1" u="none" strike="noStrike" dirty="0">
                <a:solidFill>
                  <a:srgbClr val="FFFFFF"/>
                </a:solidFill>
                <a:latin typeface="DM Sans Bold Italics"/>
                <a:ea typeface="DM Sans Bold Italics"/>
                <a:cs typeface="DM Sans Bold Italics"/>
                <a:sym typeface="DM Sans Bold Italics"/>
              </a:rPr>
              <a:t>Uranus</a:t>
            </a:r>
          </a:p>
        </p:txBody>
      </p:sp>
      <p:sp>
        <p:nvSpPr>
          <p:cNvPr id="35" name="TextBox 35"/>
          <p:cNvSpPr txBox="1"/>
          <p:nvPr/>
        </p:nvSpPr>
        <p:spPr>
          <a:xfrm>
            <a:off x="15408111" y="3200159"/>
            <a:ext cx="1780481" cy="547296"/>
          </a:xfrm>
          <a:prstGeom prst="rect">
            <a:avLst/>
          </a:prstGeom>
        </p:spPr>
        <p:txBody>
          <a:bodyPr wrap="square" lIns="0" tIns="0" rIns="0" bIns="0" rtlCol="0" anchor="t">
            <a:spAutoFit/>
          </a:bodyPr>
          <a:lstStyle/>
          <a:p>
            <a:pPr marL="0" lvl="0" indent="0" algn="ctr">
              <a:lnSpc>
                <a:spcPts val="4480"/>
              </a:lnSpc>
              <a:spcBef>
                <a:spcPct val="0"/>
              </a:spcBef>
            </a:pPr>
            <a:r>
              <a:rPr lang="en-US" sz="3200" b="1" i="1" u="none" strike="noStrike" dirty="0">
                <a:solidFill>
                  <a:srgbClr val="FFFFFF"/>
                </a:solidFill>
                <a:latin typeface="DM Sans Bold Italics"/>
                <a:ea typeface="DM Sans Bold Italics"/>
                <a:cs typeface="DM Sans Bold Italics"/>
                <a:sym typeface="DM Sans Bold Italics"/>
              </a:rPr>
              <a:t>Neptune</a:t>
            </a:r>
          </a:p>
        </p:txBody>
      </p:sp>
      <p:sp>
        <p:nvSpPr>
          <p:cNvPr id="36" name="TextBox 36"/>
          <p:cNvSpPr txBox="1"/>
          <p:nvPr/>
        </p:nvSpPr>
        <p:spPr>
          <a:xfrm>
            <a:off x="1028700" y="779963"/>
            <a:ext cx="4930666" cy="1983106"/>
          </a:xfrm>
          <a:prstGeom prst="rect">
            <a:avLst/>
          </a:prstGeom>
        </p:spPr>
        <p:txBody>
          <a:bodyPr lIns="0" tIns="0" rIns="0" bIns="0" rtlCol="0" anchor="t">
            <a:spAutoFit/>
          </a:bodyPr>
          <a:lstStyle/>
          <a:p>
            <a:pPr algn="l">
              <a:lnSpc>
                <a:spcPts val="11760"/>
              </a:lnSpc>
            </a:pPr>
            <a:r>
              <a:rPr lang="en-US" sz="14000" b="1">
                <a:solidFill>
                  <a:srgbClr val="FFFFFF"/>
                </a:solidFill>
                <a:latin typeface="Heading Now 31-38 Bold"/>
                <a:ea typeface="Heading Now 31-38 Bold"/>
                <a:cs typeface="Heading Now 31-38 Bold"/>
                <a:sym typeface="Heading Now 31-38 Bold"/>
              </a:rPr>
              <a:t>THANK</a:t>
            </a:r>
          </a:p>
        </p:txBody>
      </p:sp>
      <p:sp>
        <p:nvSpPr>
          <p:cNvPr id="37" name="TextBox 37"/>
          <p:cNvSpPr txBox="1"/>
          <p:nvPr/>
        </p:nvSpPr>
        <p:spPr>
          <a:xfrm>
            <a:off x="2699685" y="5461260"/>
            <a:ext cx="2001562" cy="737235"/>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DM Sans"/>
                <a:ea typeface="DM Sans"/>
                <a:cs typeface="DM Sans"/>
                <a:sym typeface="DM Sans"/>
              </a:rPr>
              <a:t>Smallest planet, no atmosphere.</a:t>
            </a:r>
          </a:p>
        </p:txBody>
      </p:sp>
      <p:sp>
        <p:nvSpPr>
          <p:cNvPr id="38" name="TextBox 38"/>
          <p:cNvSpPr txBox="1"/>
          <p:nvPr/>
        </p:nvSpPr>
        <p:spPr>
          <a:xfrm>
            <a:off x="3742117" y="9100734"/>
            <a:ext cx="2353883" cy="737235"/>
          </a:xfrm>
          <a:prstGeom prst="rect">
            <a:avLst/>
          </a:prstGeom>
        </p:spPr>
        <p:txBody>
          <a:bodyPr wrap="square" lIns="0" tIns="0" rIns="0" bIns="0" rtlCol="0" anchor="t">
            <a:spAutoFit/>
          </a:bodyPr>
          <a:lstStyle/>
          <a:p>
            <a:pPr algn="ctr">
              <a:lnSpc>
                <a:spcPts val="2940"/>
              </a:lnSpc>
              <a:spcBef>
                <a:spcPct val="0"/>
              </a:spcBef>
            </a:pPr>
            <a:r>
              <a:rPr lang="en-US" sz="2100" dirty="0">
                <a:solidFill>
                  <a:srgbClr val="FFFFFF"/>
                </a:solidFill>
                <a:latin typeface="DM Sans"/>
                <a:ea typeface="DM Sans"/>
                <a:cs typeface="DM Sans"/>
                <a:sym typeface="DM Sans"/>
              </a:rPr>
              <a:t>Hottest planet, thick atmosphere.</a:t>
            </a:r>
          </a:p>
        </p:txBody>
      </p:sp>
      <p:sp>
        <p:nvSpPr>
          <p:cNvPr id="39" name="TextBox 39"/>
          <p:cNvSpPr txBox="1"/>
          <p:nvPr/>
        </p:nvSpPr>
        <p:spPr>
          <a:xfrm>
            <a:off x="4780619" y="4319068"/>
            <a:ext cx="2328919" cy="737235"/>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DM Sans"/>
                <a:ea typeface="DM Sans"/>
                <a:cs typeface="DM Sans"/>
                <a:sym typeface="DM Sans"/>
              </a:rPr>
              <a:t>Only planet known to support life.</a:t>
            </a:r>
          </a:p>
        </p:txBody>
      </p:sp>
      <p:sp>
        <p:nvSpPr>
          <p:cNvPr id="40" name="TextBox 40"/>
          <p:cNvSpPr txBox="1"/>
          <p:nvPr/>
        </p:nvSpPr>
        <p:spPr>
          <a:xfrm>
            <a:off x="6297035" y="8084285"/>
            <a:ext cx="2001562" cy="737235"/>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DM Sans"/>
                <a:ea typeface="DM Sans"/>
                <a:cs typeface="DM Sans"/>
                <a:sym typeface="DM Sans"/>
              </a:rPr>
              <a:t>Red planet, tallest volcano.</a:t>
            </a:r>
          </a:p>
        </p:txBody>
      </p:sp>
      <p:sp>
        <p:nvSpPr>
          <p:cNvPr id="41" name="TextBox 41"/>
          <p:cNvSpPr txBox="1"/>
          <p:nvPr/>
        </p:nvSpPr>
        <p:spPr>
          <a:xfrm>
            <a:off x="8143219" y="1744458"/>
            <a:ext cx="2001562" cy="737235"/>
          </a:xfrm>
          <a:prstGeom prst="rect">
            <a:avLst/>
          </a:prstGeom>
        </p:spPr>
        <p:txBody>
          <a:bodyPr lIns="0" tIns="0" rIns="0" bIns="0" rtlCol="0" anchor="t">
            <a:spAutoFit/>
          </a:bodyPr>
          <a:lstStyle/>
          <a:p>
            <a:pPr algn="ctr">
              <a:lnSpc>
                <a:spcPts val="2940"/>
              </a:lnSpc>
              <a:spcBef>
                <a:spcPct val="0"/>
              </a:spcBef>
            </a:pPr>
            <a:r>
              <a:rPr lang="en-US" sz="2100" dirty="0">
                <a:solidFill>
                  <a:srgbClr val="FFFFFF"/>
                </a:solidFill>
                <a:latin typeface="DM Sans"/>
                <a:ea typeface="DM Sans"/>
                <a:cs typeface="DM Sans"/>
                <a:sym typeface="DM Sans"/>
              </a:rPr>
              <a:t>Giant storm, many moons.</a:t>
            </a:r>
          </a:p>
        </p:txBody>
      </p:sp>
      <p:sp>
        <p:nvSpPr>
          <p:cNvPr id="42" name="TextBox 42"/>
          <p:cNvSpPr txBox="1"/>
          <p:nvPr/>
        </p:nvSpPr>
        <p:spPr>
          <a:xfrm>
            <a:off x="13190586" y="177212"/>
            <a:ext cx="2001562" cy="737235"/>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DM Sans"/>
                <a:ea typeface="DM Sans"/>
                <a:cs typeface="DM Sans"/>
                <a:sym typeface="DM Sans"/>
              </a:rPr>
              <a:t>Tilts sideways, pale blue color.</a:t>
            </a:r>
          </a:p>
        </p:txBody>
      </p:sp>
      <p:sp>
        <p:nvSpPr>
          <p:cNvPr id="43" name="TextBox 43"/>
          <p:cNvSpPr txBox="1"/>
          <p:nvPr/>
        </p:nvSpPr>
        <p:spPr>
          <a:xfrm>
            <a:off x="1028700" y="2484678"/>
            <a:ext cx="4930666" cy="1983106"/>
          </a:xfrm>
          <a:prstGeom prst="rect">
            <a:avLst/>
          </a:prstGeom>
        </p:spPr>
        <p:txBody>
          <a:bodyPr lIns="0" tIns="0" rIns="0" bIns="0" rtlCol="0" anchor="t">
            <a:spAutoFit/>
          </a:bodyPr>
          <a:lstStyle/>
          <a:p>
            <a:pPr algn="just">
              <a:lnSpc>
                <a:spcPts val="11760"/>
              </a:lnSpc>
            </a:pPr>
            <a:r>
              <a:rPr lang="en-US" sz="14000" b="1">
                <a:solidFill>
                  <a:srgbClr val="60C5FF"/>
                </a:solidFill>
                <a:latin typeface="Heading Now 31-38 Bold"/>
                <a:ea typeface="Heading Now 31-38 Bold"/>
                <a:cs typeface="Heading Now 31-38 Bold"/>
                <a:sym typeface="Heading Now 31-38 Bold"/>
              </a:rPr>
              <a:t>YOU</a:t>
            </a:r>
          </a:p>
        </p:txBody>
      </p:sp>
      <p:grpSp>
        <p:nvGrpSpPr>
          <p:cNvPr id="44" name="Group 44"/>
          <p:cNvGrpSpPr/>
          <p:nvPr/>
        </p:nvGrpSpPr>
        <p:grpSpPr>
          <a:xfrm rot="866554">
            <a:off x="9850321" y="2268943"/>
            <a:ext cx="3325391" cy="1638819"/>
            <a:chOff x="0" y="0"/>
            <a:chExt cx="875823" cy="431623"/>
          </a:xfrm>
        </p:grpSpPr>
        <p:sp>
          <p:nvSpPr>
            <p:cNvPr id="45" name="Freeform 45"/>
            <p:cNvSpPr/>
            <p:nvPr/>
          </p:nvSpPr>
          <p:spPr>
            <a:xfrm>
              <a:off x="0" y="0"/>
              <a:ext cx="875823" cy="431623"/>
            </a:xfrm>
            <a:custGeom>
              <a:avLst/>
              <a:gdLst/>
              <a:ahLst/>
              <a:cxnLst/>
              <a:rect l="l" t="t" r="r" b="b"/>
              <a:pathLst>
                <a:path w="875823" h="431623">
                  <a:moveTo>
                    <a:pt x="0" y="0"/>
                  </a:moveTo>
                  <a:lnTo>
                    <a:pt x="875823" y="0"/>
                  </a:lnTo>
                  <a:lnTo>
                    <a:pt x="875823" y="431623"/>
                  </a:lnTo>
                  <a:lnTo>
                    <a:pt x="0" y="431623"/>
                  </a:lnTo>
                  <a:close/>
                </a:path>
              </a:pathLst>
            </a:custGeom>
            <a:solidFill>
              <a:srgbClr val="030202"/>
            </a:solidFill>
          </p:spPr>
          <p:txBody>
            <a:bodyPr/>
            <a:lstStyle/>
            <a:p>
              <a:endParaRPr lang="ar-EG"/>
            </a:p>
          </p:txBody>
        </p:sp>
        <p:sp>
          <p:nvSpPr>
            <p:cNvPr id="46" name="TextBox 46"/>
            <p:cNvSpPr txBox="1"/>
            <p:nvPr/>
          </p:nvSpPr>
          <p:spPr>
            <a:xfrm>
              <a:off x="0" y="-47625"/>
              <a:ext cx="875823" cy="479248"/>
            </a:xfrm>
            <a:prstGeom prst="rect">
              <a:avLst/>
            </a:prstGeom>
          </p:spPr>
          <p:txBody>
            <a:bodyPr lIns="50800" tIns="50800" rIns="50800" bIns="50800" rtlCol="0" anchor="ctr"/>
            <a:lstStyle/>
            <a:p>
              <a:pPr algn="ctr">
                <a:lnSpc>
                  <a:spcPts val="2940"/>
                </a:lnSpc>
              </a:pPr>
              <a:endParaRPr/>
            </a:p>
          </p:txBody>
        </p:sp>
      </p:grpSp>
      <p:grpSp>
        <p:nvGrpSpPr>
          <p:cNvPr id="47" name="Group 47"/>
          <p:cNvGrpSpPr/>
          <p:nvPr/>
        </p:nvGrpSpPr>
        <p:grpSpPr>
          <a:xfrm rot="866554">
            <a:off x="10557833" y="2999489"/>
            <a:ext cx="3325391" cy="1638819"/>
            <a:chOff x="0" y="0"/>
            <a:chExt cx="875823" cy="431623"/>
          </a:xfrm>
        </p:grpSpPr>
        <p:sp>
          <p:nvSpPr>
            <p:cNvPr id="48" name="Freeform 48"/>
            <p:cNvSpPr/>
            <p:nvPr/>
          </p:nvSpPr>
          <p:spPr>
            <a:xfrm>
              <a:off x="0" y="0"/>
              <a:ext cx="875823" cy="431623"/>
            </a:xfrm>
            <a:custGeom>
              <a:avLst/>
              <a:gdLst/>
              <a:ahLst/>
              <a:cxnLst/>
              <a:rect l="l" t="t" r="r" b="b"/>
              <a:pathLst>
                <a:path w="875823" h="431623">
                  <a:moveTo>
                    <a:pt x="0" y="0"/>
                  </a:moveTo>
                  <a:lnTo>
                    <a:pt x="875823" y="0"/>
                  </a:lnTo>
                  <a:lnTo>
                    <a:pt x="875823" y="431623"/>
                  </a:lnTo>
                  <a:lnTo>
                    <a:pt x="0" y="431623"/>
                  </a:lnTo>
                  <a:close/>
                </a:path>
              </a:pathLst>
            </a:custGeom>
            <a:solidFill>
              <a:srgbClr val="030202"/>
            </a:solidFill>
          </p:spPr>
          <p:txBody>
            <a:bodyPr/>
            <a:lstStyle/>
            <a:p>
              <a:endParaRPr lang="ar-EG"/>
            </a:p>
          </p:txBody>
        </p:sp>
        <p:sp>
          <p:nvSpPr>
            <p:cNvPr id="49" name="TextBox 49"/>
            <p:cNvSpPr txBox="1"/>
            <p:nvPr/>
          </p:nvSpPr>
          <p:spPr>
            <a:xfrm>
              <a:off x="0" y="-47625"/>
              <a:ext cx="875823" cy="479248"/>
            </a:xfrm>
            <a:prstGeom prst="rect">
              <a:avLst/>
            </a:prstGeom>
          </p:spPr>
          <p:txBody>
            <a:bodyPr lIns="50800" tIns="50800" rIns="50800" bIns="50800" rtlCol="0" anchor="ctr"/>
            <a:lstStyle/>
            <a:p>
              <a:pPr algn="ctr">
                <a:lnSpc>
                  <a:spcPts val="2940"/>
                </a:lnSpc>
              </a:pPr>
              <a:endParaRPr/>
            </a:p>
          </p:txBody>
        </p:sp>
      </p:grpSp>
      <p:sp>
        <p:nvSpPr>
          <p:cNvPr id="50" name="Freeform 50"/>
          <p:cNvSpPr/>
          <p:nvPr/>
        </p:nvSpPr>
        <p:spPr>
          <a:xfrm>
            <a:off x="8095501" y="3703621"/>
            <a:ext cx="2781937" cy="2778460"/>
          </a:xfrm>
          <a:custGeom>
            <a:avLst/>
            <a:gdLst/>
            <a:ahLst/>
            <a:cxnLst/>
            <a:rect l="l" t="t" r="r" b="b"/>
            <a:pathLst>
              <a:path w="2781937" h="2778460">
                <a:moveTo>
                  <a:pt x="0" y="0"/>
                </a:moveTo>
                <a:lnTo>
                  <a:pt x="2781937" y="0"/>
                </a:lnTo>
                <a:lnTo>
                  <a:pt x="2781937" y="2778460"/>
                </a:lnTo>
                <a:lnTo>
                  <a:pt x="0" y="2778460"/>
                </a:lnTo>
                <a:lnTo>
                  <a:pt x="0" y="0"/>
                </a:lnTo>
                <a:close/>
              </a:path>
            </a:pathLst>
          </a:custGeom>
          <a:blipFill>
            <a:blip r:embed="rId14"/>
            <a:stretch>
              <a:fillRect/>
            </a:stretch>
          </a:blipFill>
        </p:spPr>
        <p:txBody>
          <a:bodyPr/>
          <a:lstStyle/>
          <a:p>
            <a:endParaRPr lang="ar-EG"/>
          </a:p>
        </p:txBody>
      </p:sp>
      <p:sp>
        <p:nvSpPr>
          <p:cNvPr id="51" name="AutoShape 51"/>
          <p:cNvSpPr/>
          <p:nvPr/>
        </p:nvSpPr>
        <p:spPr>
          <a:xfrm flipV="1">
            <a:off x="12234034" y="4639234"/>
            <a:ext cx="0" cy="1081346"/>
          </a:xfrm>
          <a:prstGeom prst="line">
            <a:avLst/>
          </a:prstGeom>
          <a:ln w="28575" cap="flat">
            <a:solidFill>
              <a:srgbClr val="FFFFFF"/>
            </a:solidFill>
            <a:prstDash val="solid"/>
            <a:headEnd type="triangle" w="lg" len="med"/>
            <a:tailEnd type="triangle" w="lg" len="med"/>
          </a:ln>
        </p:spPr>
        <p:txBody>
          <a:bodyPr/>
          <a:lstStyle/>
          <a:p>
            <a:pPr lvl="0" algn="ctr">
              <a:lnSpc>
                <a:spcPts val="4480"/>
              </a:lnSpc>
              <a:spcBef>
                <a:spcPct val="0"/>
              </a:spcBef>
            </a:pPr>
            <a:endParaRPr lang="en-US" b="1" i="1" dirty="0">
              <a:solidFill>
                <a:srgbClr val="FFFFFF"/>
              </a:solidFill>
              <a:latin typeface="DM Sans Bold Italics"/>
              <a:ea typeface="DM Sans Bold Italics"/>
              <a:cs typeface="DM Sans Bold Italics"/>
              <a:sym typeface="DM Sans Bold Italics"/>
            </a:endParaRPr>
          </a:p>
        </p:txBody>
      </p:sp>
      <p:sp>
        <p:nvSpPr>
          <p:cNvPr id="52" name="Freeform 52"/>
          <p:cNvSpPr/>
          <p:nvPr/>
        </p:nvSpPr>
        <p:spPr>
          <a:xfrm rot="1233472">
            <a:off x="9464094" y="1810316"/>
            <a:ext cx="5669251" cy="3188954"/>
          </a:xfrm>
          <a:custGeom>
            <a:avLst/>
            <a:gdLst/>
            <a:ahLst/>
            <a:cxnLst/>
            <a:rect l="l" t="t" r="r" b="b"/>
            <a:pathLst>
              <a:path w="5669251" h="3188954">
                <a:moveTo>
                  <a:pt x="0" y="0"/>
                </a:moveTo>
                <a:lnTo>
                  <a:pt x="5669251" y="0"/>
                </a:lnTo>
                <a:lnTo>
                  <a:pt x="5669251" y="3188954"/>
                </a:lnTo>
                <a:lnTo>
                  <a:pt x="0" y="3188954"/>
                </a:lnTo>
                <a:lnTo>
                  <a:pt x="0" y="0"/>
                </a:lnTo>
                <a:close/>
              </a:path>
            </a:pathLst>
          </a:custGeom>
          <a:blipFill>
            <a:blip r:embed="rId15"/>
            <a:stretch>
              <a:fillRect/>
            </a:stretch>
          </a:blipFill>
        </p:spPr>
        <p:txBody>
          <a:bodyPr/>
          <a:lstStyle/>
          <a:p>
            <a:endParaRPr lang="ar-EG" dirty="0"/>
          </a:p>
        </p:txBody>
      </p:sp>
      <p:sp>
        <p:nvSpPr>
          <p:cNvPr id="54" name="TextBox 53">
            <a:extLst>
              <a:ext uri="{FF2B5EF4-FFF2-40B4-BE49-F238E27FC236}">
                <a16:creationId xmlns:a16="http://schemas.microsoft.com/office/drawing/2014/main" id="{3D1D9542-EEC1-01AD-5ED9-B31F8B953C4D}"/>
              </a:ext>
            </a:extLst>
          </p:cNvPr>
          <p:cNvSpPr txBox="1"/>
          <p:nvPr/>
        </p:nvSpPr>
        <p:spPr>
          <a:xfrm>
            <a:off x="11414523" y="5548806"/>
            <a:ext cx="1612009" cy="642420"/>
          </a:xfrm>
          <a:prstGeom prst="rect">
            <a:avLst/>
          </a:prstGeom>
          <a:noFill/>
        </p:spPr>
        <p:txBody>
          <a:bodyPr wrap="square">
            <a:spAutoFit/>
          </a:bodyPr>
          <a:lstStyle/>
          <a:p>
            <a:pPr lvl="0" algn="ctr">
              <a:lnSpc>
                <a:spcPts val="4480"/>
              </a:lnSpc>
              <a:spcBef>
                <a:spcPct val="0"/>
              </a:spcBef>
            </a:pPr>
            <a:r>
              <a:rPr lang="en-US" sz="3200" i="1" dirty="0" err="1">
                <a:solidFill>
                  <a:srgbClr val="FFFFFF"/>
                </a:solidFill>
                <a:latin typeface="DM Sans Bold Italics"/>
                <a:ea typeface="DM Sans Bold Italics"/>
                <a:cs typeface="DM Sans Bold Italics"/>
                <a:sym typeface="DM Sans Bold Italics"/>
              </a:rPr>
              <a:t>Sartun</a:t>
            </a:r>
            <a:endParaRPr lang="en-US" sz="3200" i="1" dirty="0">
              <a:solidFill>
                <a:srgbClr val="FFFFFF"/>
              </a:solidFill>
              <a:latin typeface="DM Sans Bold Italics"/>
              <a:ea typeface="DM Sans Bold Italics"/>
              <a:cs typeface="DM Sans Bold Italics"/>
              <a:sym typeface="DM Sans Bold Italics"/>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272</TotalTime>
  <Words>1467</Words>
  <Application>Microsoft Office PowerPoint</Application>
  <PresentationFormat>Custom</PresentationFormat>
  <Paragraphs>106</Paragraphs>
  <Slides>12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Arial</vt:lpstr>
      <vt:lpstr>DM Sans</vt:lpstr>
      <vt:lpstr>DM Sans Bold Italics</vt:lpstr>
      <vt:lpstr>Heading Now 31-38 Bold</vt:lpstr>
      <vt:lpstr>Garet</vt:lpstr>
      <vt:lpstr>Calibri</vt:lpstr>
      <vt:lpstr>Garet Italics</vt:lpstr>
      <vt:lpstr>Akzidenz-Grotesk Bold</vt:lpstr>
      <vt:lpstr>Garet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 System Presentation</dc:title>
  <dc:creator>noura maher</dc:creator>
  <cp:lastModifiedBy>noura maher</cp:lastModifiedBy>
  <cp:revision>2</cp:revision>
  <dcterms:created xsi:type="dcterms:W3CDTF">2006-08-16T00:00:00Z</dcterms:created>
  <dcterms:modified xsi:type="dcterms:W3CDTF">2026-05-05T23:40:50Z</dcterms:modified>
  <dc:identifier>DAHIwpUxjak</dc:identifier>
</cp:coreProperties>
</file>